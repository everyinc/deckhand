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text-2"/>
          <p:cNvSpPr txBox="1"/>
          <p:nvPr/>
        </p:nvSpPr>
        <p:spPr>
          <a:xfrm>
            <a:off x="609904" y="457200"/>
            <a:ext cx="1048816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8A8A84"/>
                </a:solidFill>
                <a:latin typeface="JetBrains Mono"/>
              </a:rPr>
              <a:t>THE WALKTHROUGH</a:t>
            </a:r>
          </a:p>
        </p:txBody>
      </p:sp>
      <p:sp>
        <p:nvSpPr>
          <p:cNvPr id="4" name="h2p-text-3"/>
          <p:cNvSpPr txBox="1"/>
          <p:nvPr/>
        </p:nvSpPr>
        <p:spPr>
          <a:xfrm>
            <a:off x="875995" y="1123797"/>
            <a:ext cx="11075212" cy="36191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50">
                <a:solidFill>
                  <a:srgbClr val="FFFEFB"/>
                </a:solidFill>
                <a:latin typeface="Fraunces"/>
              </a:rPr>
              <a:t>hands </a:t>
            </a:r>
            <a:r>
              <a:rPr i="1" sz="14250">
                <a:solidFill>
                  <a:srgbClr val="E8A33D"/>
                </a:solidFill>
                <a:latin typeface="Fraunces"/>
              </a:rPr>
              <a:t>on</a:t>
            </a:r>
          </a:p>
          <a:p>
            <a:pPr marL="0" indent="0" algn="l">
              <a:lnSpc>
                <a:spcPts val="14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50">
                <a:solidFill>
                  <a:srgbClr val="FFFEFB"/>
                </a:solidFill>
                <a:latin typeface="Fraunces"/>
              </a:rPr>
              <a:t>deck</a:t>
            </a:r>
          </a:p>
        </p:txBody>
      </p:sp>
      <p:sp>
        <p:nvSpPr>
          <p:cNvPr id="5" name="h2p-text-4"/>
          <p:cNvSpPr txBox="1"/>
          <p:nvPr/>
        </p:nvSpPr>
        <p:spPr>
          <a:xfrm>
            <a:off x="952804" y="5296204"/>
            <a:ext cx="87434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C9BDA6"/>
                </a:solidFill>
                <a:latin typeface="JetBrains Mono"/>
              </a:rPr>
              <a:t>How an AI agent built its own PowerPoint — in six days.</a:t>
            </a:r>
          </a:p>
        </p:txBody>
      </p:sp>
      <p:sp>
        <p:nvSpPr>
          <p:cNvPr id="6" name="h2p-text-5"/>
          <p:cNvSpPr txBox="1"/>
          <p:nvPr/>
        </p:nvSpPr>
        <p:spPr>
          <a:xfrm>
            <a:off x="952804" y="6019495"/>
            <a:ext cx="4857292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8A8A84"/>
                </a:solidFill>
                <a:latin typeface="JetBrains Mono"/>
              </a:rPr>
              <a:t>github.com/EveryInc/hands-on-deck</a:t>
            </a:r>
          </a:p>
        </p:txBody>
      </p:sp>
      <p:sp>
        <p:nvSpPr>
          <p:cNvPr id="7" name="h2p-text-6"/>
          <p:cNvSpPr txBox="1"/>
          <p:nvPr/>
        </p:nvSpPr>
        <p:spPr>
          <a:xfrm>
            <a:off x="609904" y="6648602"/>
            <a:ext cx="2404872" cy="713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0">
                <a:solidFill>
                  <a:srgbClr val="8A8A84"/>
                </a:solidFill>
                <a:latin typeface="JetBrains Mono"/>
              </a:rPr>
              <a:t>hands-on-deck · slide 01/18 · built by deck.py — 9 ops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914632" y="5120640"/>
            <a:ext cx="274320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text-2"/>
          <p:cNvSpPr txBox="1"/>
          <p:nvPr/>
        </p:nvSpPr>
        <p:spPr>
          <a:xfrm>
            <a:off x="381304" y="152704"/>
            <a:ext cx="910742" cy="20802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0">
                <a:solidFill>
                  <a:srgbClr val="1F1F1D"/>
                </a:solidFill>
                <a:latin typeface="Fraunces"/>
              </a:rPr>
              <a:t>I</a:t>
            </a:r>
          </a:p>
        </p:txBody>
      </p:sp>
      <p:sp>
        <p:nvSpPr>
          <p:cNvPr id="4" name="h2p-text-3"/>
          <p:cNvSpPr txBox="1"/>
          <p:nvPr/>
        </p:nvSpPr>
        <p:spPr>
          <a:xfrm>
            <a:off x="609904" y="457200"/>
            <a:ext cx="1329537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E8A33D"/>
                </a:solidFill>
                <a:latin typeface="JetBrains Mono"/>
              </a:rPr>
              <a:t>ACT I — THE PROBLEM</a:t>
            </a:r>
          </a:p>
        </p:txBody>
      </p:sp>
      <p:sp>
        <p:nvSpPr>
          <p:cNvPr id="5" name="h2p-text-4"/>
          <p:cNvSpPr txBox="1"/>
          <p:nvPr/>
        </p:nvSpPr>
        <p:spPr>
          <a:xfrm>
            <a:off x="914400" y="1067104"/>
            <a:ext cx="10570464" cy="5449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050">
                <a:solidFill>
                  <a:srgbClr val="FFFEFB"/>
                </a:solidFill>
                <a:latin typeface="Fraunces"/>
              </a:rPr>
              <a:t>You've watched my decks for months.</a:t>
            </a:r>
          </a:p>
        </p:txBody>
      </p:sp>
      <p:sp>
        <p:nvSpPr>
          <p:cNvPr id="6" name="h2p-text-5"/>
          <p:cNvSpPr txBox="1"/>
          <p:nvPr/>
        </p:nvSpPr>
        <p:spPr>
          <a:xfrm>
            <a:off x="609904" y="1923897"/>
            <a:ext cx="909828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8A8A84"/>
                </a:solidFill>
                <a:latin typeface="JetBrains Mono"/>
              </a:rPr>
              <a:t>THE GOOD DAYS</a:t>
            </a:r>
          </a:p>
        </p:txBody>
      </p:sp>
      <p:sp>
        <p:nvSpPr>
          <p:cNvPr id="7" name="h2p-text-6"/>
          <p:cNvSpPr txBox="1"/>
          <p:nvPr/>
        </p:nvSpPr>
        <p:spPr>
          <a:xfrm>
            <a:off x="5296204" y="1923897"/>
            <a:ext cx="839419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E8A33D"/>
                </a:solidFill>
                <a:latin typeface="JetBrains Mono"/>
              </a:rPr>
              <a:t>THE BAD DAYS</a:t>
            </a:r>
          </a:p>
        </p:txBody>
      </p:sp>
      <p:pic>
        <p:nvPicPr>
          <p:cNvPr id="8" name="Picture 7" descr="good-day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2190902"/>
            <a:ext cx="4190695" cy="2361895"/>
          </a:xfrm>
          <a:prstGeom prst="rect">
            <a:avLst/>
          </a:prstGeom>
        </p:spPr>
      </p:pic>
      <p:pic>
        <p:nvPicPr>
          <p:cNvPr id="9" name="Picture 8" descr="bad-day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204" y="2190902"/>
            <a:ext cx="5905195" cy="3323844"/>
          </a:xfrm>
          <a:prstGeom prst="rect">
            <a:avLst/>
          </a:prstGeom>
        </p:spPr>
      </p:pic>
      <p:sp>
        <p:nvSpPr>
          <p:cNvPr id="10" name="h2p-box-7"/>
          <p:cNvSpPr/>
          <p:nvPr/>
        </p:nvSpPr>
        <p:spPr>
          <a:xfrm>
            <a:off x="5715000" y="2723997"/>
            <a:ext cx="9144" cy="36210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2p-box-8"/>
          <p:cNvSpPr/>
          <p:nvPr/>
        </p:nvSpPr>
        <p:spPr>
          <a:xfrm>
            <a:off x="5429707" y="2342692"/>
            <a:ext cx="3844137" cy="289864"/>
          </a:xfrm>
          <a:prstGeom prst="rect">
            <a:avLst/>
          </a:prstGeom>
          <a:solidFill>
            <a:srgbClr val="0E0E0C"/>
          </a:solidFill>
          <a:ln w="10160">
            <a:solidFill>
              <a:srgbClr val="9C6F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text-9"/>
          <p:cNvSpPr txBox="1"/>
          <p:nvPr/>
        </p:nvSpPr>
        <p:spPr>
          <a:xfrm>
            <a:off x="5533948" y="2400300"/>
            <a:ext cx="3707891" cy="1655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E8A33D"/>
                </a:solidFill>
                <a:latin typeface="JetBrains Mono"/>
              </a:rPr>
              <a:t>title x: 0.43" → 0.51" → 0.47" (drifts across slides)</a:t>
            </a:r>
          </a:p>
        </p:txBody>
      </p:sp>
      <p:sp>
        <p:nvSpPr>
          <p:cNvPr id="13" name="h2p-box-10"/>
          <p:cNvSpPr/>
          <p:nvPr/>
        </p:nvSpPr>
        <p:spPr>
          <a:xfrm>
            <a:off x="9525304" y="3847795"/>
            <a:ext cx="513892" cy="914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box-11"/>
          <p:cNvSpPr/>
          <p:nvPr/>
        </p:nvSpPr>
        <p:spPr>
          <a:xfrm>
            <a:off x="10039197" y="3562502"/>
            <a:ext cx="1543507" cy="620877"/>
          </a:xfrm>
          <a:prstGeom prst="rect">
            <a:avLst/>
          </a:prstGeom>
          <a:solidFill>
            <a:srgbClr val="0E0E0C"/>
          </a:solidFill>
          <a:ln w="10160">
            <a:solidFill>
              <a:srgbClr val="9C6F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2p-text-12"/>
          <p:cNvSpPr txBox="1"/>
          <p:nvPr/>
        </p:nvSpPr>
        <p:spPr>
          <a:xfrm>
            <a:off x="10144353" y="3619195"/>
            <a:ext cx="1360627" cy="496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E8A33D"/>
                </a:solidFill>
                <a:latin typeface="JetBrains Mono"/>
              </a:rPr>
              <a:t>given template: ignored — rebuilt from scratch</a:t>
            </a:r>
          </a:p>
        </p:txBody>
      </p:sp>
      <p:sp>
        <p:nvSpPr>
          <p:cNvPr id="16" name="h2p-box-13"/>
          <p:cNvSpPr/>
          <p:nvPr/>
        </p:nvSpPr>
        <p:spPr>
          <a:xfrm>
            <a:off x="5810097" y="5296204"/>
            <a:ext cx="9144" cy="323697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2p-box-14"/>
          <p:cNvSpPr/>
          <p:nvPr/>
        </p:nvSpPr>
        <p:spPr>
          <a:xfrm>
            <a:off x="5524804" y="5619902"/>
            <a:ext cx="2061057" cy="289864"/>
          </a:xfrm>
          <a:prstGeom prst="rect">
            <a:avLst/>
          </a:prstGeom>
          <a:solidFill>
            <a:srgbClr val="0E0E0C"/>
          </a:solidFill>
          <a:ln w="10160">
            <a:solidFill>
              <a:srgbClr val="9C6F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text-15"/>
          <p:cNvSpPr txBox="1"/>
          <p:nvPr/>
        </p:nvSpPr>
        <p:spPr>
          <a:xfrm>
            <a:off x="5629046" y="5676595"/>
            <a:ext cx="1889150" cy="1655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E8A33D"/>
                </a:solidFill>
                <a:latin typeface="JetBrains Mono"/>
              </a:rPr>
              <a:t>footer: missing on 7 slides</a:t>
            </a:r>
          </a:p>
        </p:txBody>
      </p:sp>
      <p:sp>
        <p:nvSpPr>
          <p:cNvPr id="19" name="h2p-box-16"/>
          <p:cNvSpPr/>
          <p:nvPr/>
        </p:nvSpPr>
        <p:spPr>
          <a:xfrm>
            <a:off x="8534095" y="5201107"/>
            <a:ext cx="2819095" cy="400507"/>
          </a:xfrm>
          <a:prstGeom prst="rect">
            <a:avLst/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box-17"/>
          <p:cNvSpPr/>
          <p:nvPr/>
        </p:nvSpPr>
        <p:spPr>
          <a:xfrm>
            <a:off x="8458200" y="5124297"/>
            <a:ext cx="2819095" cy="400507"/>
          </a:xfrm>
          <a:prstGeom prst="rect">
            <a:avLst/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2p-box-18"/>
          <p:cNvSpPr/>
          <p:nvPr/>
        </p:nvSpPr>
        <p:spPr>
          <a:xfrm>
            <a:off x="8382304" y="5048402"/>
            <a:ext cx="2819095" cy="400507"/>
          </a:xfrm>
          <a:prstGeom prst="rect">
            <a:avLst/>
          </a:prstGeom>
          <a:solidFill>
            <a:srgbClr val="0E0E0C"/>
          </a:solidFill>
          <a:ln w="1016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2p-text-19"/>
          <p:cNvSpPr txBox="1"/>
          <p:nvPr/>
        </p:nvSpPr>
        <p:spPr>
          <a:xfrm>
            <a:off x="8363102" y="5162702"/>
            <a:ext cx="2856585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E8A33D"/>
                </a:solidFill>
                <a:latin typeface="JetBrains Mono"/>
              </a:rPr>
              <a:t>× 23 more slides to review by hand</a:t>
            </a:r>
          </a:p>
        </p:txBody>
      </p:sp>
      <p:sp>
        <p:nvSpPr>
          <p:cNvPr id="23" name="h2p-text-20"/>
          <p:cNvSpPr txBox="1"/>
          <p:nvPr/>
        </p:nvSpPr>
        <p:spPr>
          <a:xfrm>
            <a:off x="811072" y="6019495"/>
            <a:ext cx="10570464" cy="2596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sz="1580">
                <a:solidFill>
                  <a:srgbClr val="C9BDA6"/>
                </a:solidFill>
                <a:latin typeface="Fraunces"/>
              </a:rPr>
              <a:t>The failure mode wasn't ugliness. It was </a:t>
            </a:r>
            <a:r>
              <a:rPr i="1" sz="1580">
                <a:solidFill>
                  <a:srgbClr val="E8A33D"/>
                </a:solidFill>
                <a:latin typeface="Fraunces"/>
              </a:rPr>
              <a:t>unreviewable tedium</a:t>
            </a:r>
            <a:r>
              <a:rPr i="1" sz="1580">
                <a:solidFill>
                  <a:srgbClr val="C9BDA6"/>
                </a:solidFill>
                <a:latin typeface="Fraunces"/>
              </a:rPr>
              <a:t>.</a:t>
            </a:r>
          </a:p>
        </p:txBody>
      </p:sp>
      <p:sp>
        <p:nvSpPr>
          <p:cNvPr id="24" name="h2p-text-21"/>
          <p:cNvSpPr txBox="1"/>
          <p:nvPr/>
        </p:nvSpPr>
        <p:spPr>
          <a:xfrm>
            <a:off x="609904" y="6648602"/>
            <a:ext cx="2404872" cy="713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0">
                <a:solidFill>
                  <a:srgbClr val="8A8A84"/>
                </a:solidFill>
                <a:latin typeface="JetBrains Mono"/>
              </a:rPr>
              <a:t>hands-on-deck · slide 02/18 · built by deck.py — 28 ops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0" y="5120640"/>
            <a:ext cx="1554480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54480" y="5120640"/>
            <a:ext cx="685800" cy="123444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240280" y="6355080"/>
            <a:ext cx="9948672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h2p-text-1"/>
          <p:cNvSpPr txBox="1"/>
          <p:nvPr/>
        </p:nvSpPr>
        <p:spPr>
          <a:xfrm>
            <a:off x="609904" y="457200"/>
            <a:ext cx="1958644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8A8A84"/>
                </a:solidFill>
                <a:latin typeface="JetBrains Mono"/>
              </a:rPr>
              <a:t>WHAT THE AGENT ACTUALLY SEES</a:t>
            </a:r>
          </a:p>
        </p:txBody>
      </p:sp>
      <p:sp>
        <p:nvSpPr>
          <p:cNvPr id="3" name="h2p-text-2"/>
          <p:cNvSpPr txBox="1"/>
          <p:nvPr/>
        </p:nvSpPr>
        <p:spPr>
          <a:xfrm>
            <a:off x="914400" y="1067104"/>
            <a:ext cx="10570464" cy="10899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050">
                <a:solidFill>
                  <a:srgbClr val="FFFEFB"/>
                </a:solidFill>
                <a:latin typeface="Fraunces"/>
              </a:rPr>
              <a:t>This slide is </a:t>
            </a:r>
            <a:r>
              <a:rPr b="1" sz="4050">
                <a:solidFill>
                  <a:srgbClr val="E8A33D"/>
                </a:solidFill>
                <a:latin typeface="Fraunces"/>
              </a:rPr>
              <a:t>1,183 lines of XML</a:t>
            </a:r>
            <a:r>
              <a:rPr b="1" sz="4050">
                <a:solidFill>
                  <a:srgbClr val="FFFEFB"/>
                </a:solidFill>
                <a:latin typeface="Fraunces"/>
              </a:rPr>
              <a:t>. You're looking at all of them.</a:t>
            </a:r>
          </a:p>
        </p:txBody>
      </p:sp>
      <p:sp>
        <p:nvSpPr>
          <p:cNvPr id="4" name="h2p-box-3"/>
          <p:cNvSpPr/>
          <p:nvPr/>
        </p:nvSpPr>
        <p:spPr>
          <a:xfrm>
            <a:off x="914400" y="3276295"/>
            <a:ext cx="2095804" cy="1181404"/>
          </a:xfrm>
          <a:prstGeom prst="roundRect">
            <a:avLst>
              <a:gd name="adj" fmla="val 323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2p-box-4"/>
          <p:cNvSpPr/>
          <p:nvPr/>
        </p:nvSpPr>
        <p:spPr>
          <a:xfrm>
            <a:off x="1047902" y="3429000"/>
            <a:ext cx="1333195" cy="75895"/>
          </a:xfrm>
          <a:prstGeom prst="rect">
            <a:avLst/>
          </a:prstGeom>
          <a:solidFill>
            <a:srgbClr val="FFF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2p-box-5"/>
          <p:cNvSpPr/>
          <p:nvPr/>
        </p:nvSpPr>
        <p:spPr>
          <a:xfrm>
            <a:off x="1047902" y="3581704"/>
            <a:ext cx="914400" cy="75895"/>
          </a:xfrm>
          <a:prstGeom prst="rect">
            <a:avLst/>
          </a:prstGeom>
          <a:solidFill>
            <a:srgbClr val="FFF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box-6"/>
          <p:cNvSpPr/>
          <p:nvPr/>
        </p:nvSpPr>
        <p:spPr>
          <a:xfrm>
            <a:off x="1047902" y="3829507"/>
            <a:ext cx="571500" cy="323697"/>
          </a:xfrm>
          <a:prstGeom prst="rect">
            <a:avLst/>
          </a:prstGeom>
          <a:solidFill>
            <a:srgbClr val="2B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box-7"/>
          <p:cNvSpPr/>
          <p:nvPr/>
        </p:nvSpPr>
        <p:spPr>
          <a:xfrm>
            <a:off x="1714500" y="3829507"/>
            <a:ext cx="990295" cy="323697"/>
          </a:xfrm>
          <a:prstGeom prst="rect">
            <a:avLst/>
          </a:prstGeom>
          <a:solidFill>
            <a:srgbClr val="2B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2p-box-8"/>
          <p:cNvSpPr/>
          <p:nvPr/>
        </p:nvSpPr>
        <p:spPr>
          <a:xfrm>
            <a:off x="1047902" y="4248302"/>
            <a:ext cx="513892" cy="2834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2p-text-9"/>
          <p:cNvSpPr txBox="1"/>
          <p:nvPr/>
        </p:nvSpPr>
        <p:spPr>
          <a:xfrm>
            <a:off x="914400" y="4610404"/>
            <a:ext cx="839419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8A8A84"/>
                </a:solidFill>
                <a:latin typeface="JetBrains Mono"/>
              </a:rPr>
              <a:t>WHAT YOU SEE</a:t>
            </a:r>
          </a:p>
        </p:txBody>
      </p:sp>
      <p:sp>
        <p:nvSpPr>
          <p:cNvPr id="11" name="h2p-text-10"/>
          <p:cNvSpPr txBox="1"/>
          <p:nvPr/>
        </p:nvSpPr>
        <p:spPr>
          <a:xfrm>
            <a:off x="3314700" y="3714292"/>
            <a:ext cx="174650" cy="285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12" name="h2p-box-11"/>
          <p:cNvSpPr/>
          <p:nvPr/>
        </p:nvSpPr>
        <p:spPr>
          <a:xfrm>
            <a:off x="4114800" y="3086100"/>
            <a:ext cx="3524097" cy="1561795"/>
          </a:xfrm>
          <a:prstGeom prst="roundRect">
            <a:avLst>
              <a:gd name="adj" fmla="val 366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text-12"/>
          <p:cNvSpPr txBox="1"/>
          <p:nvPr/>
        </p:nvSpPr>
        <p:spPr>
          <a:xfrm>
            <a:off x="4352544" y="3267151"/>
            <a:ext cx="3108960" cy="2331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EFB"/>
                </a:solidFill>
                <a:latin typeface="JetBrains Mono"/>
              </a:rPr>
              <a:t>walkthrough.pptx</a:t>
            </a:r>
          </a:p>
        </p:txBody>
      </p:sp>
      <p:sp>
        <p:nvSpPr>
          <p:cNvPr id="14" name="h2p-text-13"/>
          <p:cNvSpPr txBox="1"/>
          <p:nvPr/>
        </p:nvSpPr>
        <p:spPr>
          <a:xfrm>
            <a:off x="4352544" y="3500323"/>
            <a:ext cx="3108960" cy="2331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├─ </a:t>
            </a:r>
            <a:r>
              <a:rPr sz="1050">
                <a:solidFill>
                  <a:srgbClr val="E8A33D"/>
                </a:solidFill>
                <a:latin typeface="JetBrains Mono"/>
              </a:rPr>
              <a:t>ppt/slides/slide3.xml</a:t>
            </a:r>
          </a:p>
        </p:txBody>
      </p:sp>
      <p:sp>
        <p:nvSpPr>
          <p:cNvPr id="15" name="h2p-text-14"/>
          <p:cNvSpPr txBox="1"/>
          <p:nvPr/>
        </p:nvSpPr>
        <p:spPr>
          <a:xfrm>
            <a:off x="4352544" y="3733495"/>
            <a:ext cx="3108960" cy="2331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├─ ppt/media/image2.png</a:t>
            </a:r>
          </a:p>
        </p:txBody>
      </p:sp>
      <p:sp>
        <p:nvSpPr>
          <p:cNvPr id="16" name="h2p-text-15"/>
          <p:cNvSpPr txBox="1"/>
          <p:nvPr/>
        </p:nvSpPr>
        <p:spPr>
          <a:xfrm>
            <a:off x="4352544" y="3967581"/>
            <a:ext cx="3108960" cy="2331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└─ ppt/theme/theme1.xml</a:t>
            </a:r>
          </a:p>
        </p:txBody>
      </p:sp>
      <p:sp>
        <p:nvSpPr>
          <p:cNvPr id="17" name="h2p-text-16"/>
          <p:cNvSpPr txBox="1"/>
          <p:nvPr/>
        </p:nvSpPr>
        <p:spPr>
          <a:xfrm>
            <a:off x="4114800" y="4800600"/>
            <a:ext cx="1329537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8A8A84"/>
                </a:solidFill>
                <a:latin typeface="JetBrains Mono"/>
              </a:rPr>
              <a:t>WHAT THE AGENT GETS</a:t>
            </a:r>
          </a:p>
        </p:txBody>
      </p:sp>
      <p:sp>
        <p:nvSpPr>
          <p:cNvPr id="18" name="h2p-text-17"/>
          <p:cNvSpPr txBox="1"/>
          <p:nvPr/>
        </p:nvSpPr>
        <p:spPr>
          <a:xfrm>
            <a:off x="7905902" y="3714292"/>
            <a:ext cx="174650" cy="285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19" name="h2p-box-18"/>
          <p:cNvSpPr/>
          <p:nvPr/>
        </p:nvSpPr>
        <p:spPr>
          <a:xfrm>
            <a:off x="8419795" y="3448202"/>
            <a:ext cx="2857500" cy="701344"/>
          </a:xfrm>
          <a:prstGeom prst="roundRect">
            <a:avLst>
              <a:gd name="adj" fmla="val 5440"/>
            </a:avLst>
          </a:prstGeom>
          <a:noFill/>
          <a:ln w="10160">
            <a:solidFill>
              <a:srgbClr val="9C6F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text-19"/>
          <p:cNvSpPr txBox="1"/>
          <p:nvPr/>
        </p:nvSpPr>
        <p:spPr>
          <a:xfrm>
            <a:off x="8600846" y="3590848"/>
            <a:ext cx="2545689" cy="395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E8A33D"/>
                </a:solidFill>
                <a:latin typeface="JetBrains Mono"/>
              </a:rPr>
              <a:t>five text boxes and an image ≈ 2,000 lines of markup</a:t>
            </a:r>
          </a:p>
        </p:txBody>
      </p:sp>
      <p:sp>
        <p:nvSpPr>
          <p:cNvPr id="21" name="h2p-text-20"/>
          <p:cNvSpPr txBox="1"/>
          <p:nvPr/>
        </p:nvSpPr>
        <p:spPr>
          <a:xfrm>
            <a:off x="8419795" y="4743907"/>
            <a:ext cx="29151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8A8A84"/>
                </a:solidFill>
                <a:latin typeface="JetBrains Mono"/>
              </a:rPr>
              <a:t>the background of this slide is its own slide3.xml — every line of it</a:t>
            </a:r>
          </a:p>
        </p:txBody>
      </p:sp>
      <p:sp>
        <p:nvSpPr>
          <p:cNvPr id="22" name="h2p-text-21"/>
          <p:cNvSpPr txBox="1"/>
          <p:nvPr/>
        </p:nvSpPr>
        <p:spPr>
          <a:xfrm>
            <a:off x="811072" y="6019495"/>
            <a:ext cx="10570464" cy="2596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sz="1580">
                <a:solidFill>
                  <a:srgbClr val="C9BDA6"/>
                </a:solidFill>
                <a:latin typeface="Fraunces"/>
              </a:rPr>
              <a:t>Humans get an application. The agent got </a:t>
            </a:r>
            <a:r>
              <a:rPr i="1" sz="1580">
                <a:solidFill>
                  <a:srgbClr val="E8A33D"/>
                </a:solidFill>
                <a:latin typeface="Fraunces"/>
              </a:rPr>
              <a:t>a ZIP file</a:t>
            </a:r>
            <a:r>
              <a:rPr i="1" sz="1580">
                <a:solidFill>
                  <a:srgbClr val="C9BDA6"/>
                </a:solidFill>
                <a:latin typeface="Fraunces"/>
              </a:rPr>
              <a:t>.</a:t>
            </a:r>
          </a:p>
        </p:txBody>
      </p:sp>
      <p:sp>
        <p:nvSpPr>
          <p:cNvPr id="23" name="h2p-text-22"/>
          <p:cNvSpPr txBox="1"/>
          <p:nvPr/>
        </p:nvSpPr>
        <p:spPr>
          <a:xfrm>
            <a:off x="609904" y="6648602"/>
            <a:ext cx="2404872" cy="713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0">
                <a:solidFill>
                  <a:srgbClr val="8A8A84"/>
                </a:solidFill>
                <a:latin typeface="JetBrains Mono"/>
              </a:rPr>
              <a:t>hands-on-deck · slide 03/18 · built by deck.py — 31 ops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0" y="6355080"/>
            <a:ext cx="11475720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475720" y="868680"/>
            <a:ext cx="411480" cy="548640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887200" y="868680"/>
            <a:ext cx="301752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text-2"/>
          <p:cNvSpPr txBox="1"/>
          <p:nvPr/>
        </p:nvSpPr>
        <p:spPr>
          <a:xfrm>
            <a:off x="609904" y="457200"/>
            <a:ext cx="979322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8A8A84"/>
                </a:solidFill>
                <a:latin typeface="JetBrains Mono"/>
              </a:rPr>
              <a:t>THE ROOT CAUSE</a:t>
            </a:r>
          </a:p>
        </p:txBody>
      </p:sp>
      <p:sp>
        <p:nvSpPr>
          <p:cNvPr id="4" name="h2p-text-3"/>
          <p:cNvSpPr txBox="1"/>
          <p:nvPr/>
        </p:nvSpPr>
        <p:spPr>
          <a:xfrm>
            <a:off x="914400" y="1067104"/>
            <a:ext cx="10570464" cy="5449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050">
                <a:solidFill>
                  <a:srgbClr val="FFFEFB"/>
                </a:solidFill>
                <a:latin typeface="Fraunces"/>
              </a:rPr>
              <a:t>The old skill makes the agent </a:t>
            </a:r>
            <a:r>
              <a:rPr i="1" sz="4050">
                <a:solidFill>
                  <a:srgbClr val="E8A33D"/>
                </a:solidFill>
                <a:latin typeface="Fraunces"/>
              </a:rPr>
              <a:t>a CODER</a:t>
            </a:r>
            <a:r>
              <a:rPr b="1" sz="4050">
                <a:solidFill>
                  <a:srgbClr val="FFFEFB"/>
                </a:solidFill>
                <a:latin typeface="Fraunces"/>
              </a:rPr>
              <a:t>.</a:t>
            </a:r>
          </a:p>
        </p:txBody>
      </p:sp>
      <p:sp>
        <p:nvSpPr>
          <p:cNvPr id="5" name="h2p-text-4"/>
          <p:cNvSpPr txBox="1"/>
          <p:nvPr/>
        </p:nvSpPr>
        <p:spPr>
          <a:xfrm>
            <a:off x="914400" y="2152497"/>
            <a:ext cx="1538935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8A8A84"/>
                </a:solidFill>
                <a:latin typeface="JetBrains Mono"/>
              </a:rPr>
              <a:t>LANE A — THE GOOD DAYS</a:t>
            </a:r>
          </a:p>
        </p:txBody>
      </p:sp>
      <p:sp>
        <p:nvSpPr>
          <p:cNvPr id="6" name="h2p-box-5"/>
          <p:cNvSpPr/>
          <p:nvPr/>
        </p:nvSpPr>
        <p:spPr>
          <a:xfrm>
            <a:off x="914400" y="2438704"/>
            <a:ext cx="2403957" cy="418795"/>
          </a:xfrm>
          <a:prstGeom prst="roundRect">
            <a:avLst>
              <a:gd name="adj" fmla="val 909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text-6"/>
          <p:cNvSpPr txBox="1"/>
          <p:nvPr/>
        </p:nvSpPr>
        <p:spPr>
          <a:xfrm>
            <a:off x="1076248" y="2542946"/>
            <a:ext cx="2122322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write one big build script</a:t>
            </a:r>
          </a:p>
        </p:txBody>
      </p:sp>
      <p:sp>
        <p:nvSpPr>
          <p:cNvPr id="8" name="h2p-text-7"/>
          <p:cNvSpPr txBox="1"/>
          <p:nvPr/>
        </p:nvSpPr>
        <p:spPr>
          <a:xfrm>
            <a:off x="3390595" y="2571292"/>
            <a:ext cx="105156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9" name="h2p-box-8"/>
          <p:cNvSpPr/>
          <p:nvPr/>
        </p:nvSpPr>
        <p:spPr>
          <a:xfrm>
            <a:off x="3733495" y="2438704"/>
            <a:ext cx="564184" cy="418795"/>
          </a:xfrm>
          <a:prstGeom prst="roundRect">
            <a:avLst>
              <a:gd name="adj" fmla="val 909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2p-text-9"/>
          <p:cNvSpPr txBox="1"/>
          <p:nvPr/>
        </p:nvSpPr>
        <p:spPr>
          <a:xfrm>
            <a:off x="3895344" y="2542946"/>
            <a:ext cx="245059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run</a:t>
            </a:r>
          </a:p>
        </p:txBody>
      </p:sp>
      <p:sp>
        <p:nvSpPr>
          <p:cNvPr id="11" name="h2p-text-10"/>
          <p:cNvSpPr txBox="1"/>
          <p:nvPr/>
        </p:nvSpPr>
        <p:spPr>
          <a:xfrm>
            <a:off x="4496104" y="2571292"/>
            <a:ext cx="105156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12" name="h2p-box-11"/>
          <p:cNvSpPr/>
          <p:nvPr/>
        </p:nvSpPr>
        <p:spPr>
          <a:xfrm>
            <a:off x="4839004" y="2438704"/>
            <a:ext cx="643737" cy="418795"/>
          </a:xfrm>
          <a:prstGeom prst="roundRect">
            <a:avLst>
              <a:gd name="adj" fmla="val 909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text-12"/>
          <p:cNvSpPr txBox="1"/>
          <p:nvPr/>
        </p:nvSpPr>
        <p:spPr>
          <a:xfrm>
            <a:off x="5000853" y="2542946"/>
            <a:ext cx="326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ship</a:t>
            </a:r>
          </a:p>
        </p:txBody>
      </p:sp>
      <p:sp>
        <p:nvSpPr>
          <p:cNvPr id="14" name="h2p-text-13"/>
          <p:cNvSpPr txBox="1"/>
          <p:nvPr/>
        </p:nvSpPr>
        <p:spPr>
          <a:xfrm>
            <a:off x="6476695" y="2495397"/>
            <a:ext cx="4896612" cy="198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E8A33D"/>
                </a:solidFill>
                <a:latin typeface="JetBrains Mono"/>
              </a:rPr>
              <a:t>when its mental picture is right, it's right everywhere</a:t>
            </a:r>
          </a:p>
        </p:txBody>
      </p:sp>
      <p:sp>
        <p:nvSpPr>
          <p:cNvPr id="15" name="h2p-box-14"/>
          <p:cNvSpPr/>
          <p:nvPr/>
        </p:nvSpPr>
        <p:spPr>
          <a:xfrm>
            <a:off x="609904" y="3353104"/>
            <a:ext cx="10972800" cy="9144"/>
          </a:xfrm>
          <a:prstGeom prst="rect">
            <a:avLst/>
          </a:prstGeom>
          <a:solidFill>
            <a:srgbClr val="2A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2p-text-15"/>
          <p:cNvSpPr txBox="1"/>
          <p:nvPr/>
        </p:nvSpPr>
        <p:spPr>
          <a:xfrm>
            <a:off x="914400" y="3638397"/>
            <a:ext cx="1469440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E8A33D"/>
                </a:solidFill>
                <a:latin typeface="JetBrains Mono"/>
              </a:rPr>
              <a:t>LANE B — THE BAD DAYS</a:t>
            </a:r>
          </a:p>
        </p:txBody>
      </p:sp>
      <p:sp>
        <p:nvSpPr>
          <p:cNvPr id="17" name="h2p-box-16"/>
          <p:cNvSpPr/>
          <p:nvPr/>
        </p:nvSpPr>
        <p:spPr>
          <a:xfrm>
            <a:off x="914400" y="3924604"/>
            <a:ext cx="2004364" cy="418795"/>
          </a:xfrm>
          <a:prstGeom prst="roundRect">
            <a:avLst>
              <a:gd name="adj" fmla="val 909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text-17"/>
          <p:cNvSpPr txBox="1"/>
          <p:nvPr/>
        </p:nvSpPr>
        <p:spPr>
          <a:xfrm>
            <a:off x="1076248" y="4028846"/>
            <a:ext cx="1713585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anything needs </a:t>
            </a:r>
            <a:r>
              <a:rPr b="1" sz="1050">
                <a:solidFill>
                  <a:srgbClr val="FFFEFB"/>
                </a:solidFill>
                <a:latin typeface="JetBrains Mono"/>
              </a:rPr>
              <a:t>FIXING</a:t>
            </a:r>
          </a:p>
        </p:txBody>
      </p:sp>
      <p:sp>
        <p:nvSpPr>
          <p:cNvPr id="19" name="h2p-text-18"/>
          <p:cNvSpPr txBox="1"/>
          <p:nvPr/>
        </p:nvSpPr>
        <p:spPr>
          <a:xfrm>
            <a:off x="2971800" y="4058107"/>
            <a:ext cx="105156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20" name="h2p-box-19"/>
          <p:cNvSpPr/>
          <p:nvPr/>
        </p:nvSpPr>
        <p:spPr>
          <a:xfrm>
            <a:off x="3238804" y="3924604"/>
            <a:ext cx="2164384" cy="418795"/>
          </a:xfrm>
          <a:prstGeom prst="roundRect">
            <a:avLst>
              <a:gd name="adj" fmla="val 909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2p-text-20"/>
          <p:cNvSpPr txBox="1"/>
          <p:nvPr/>
        </p:nvSpPr>
        <p:spPr>
          <a:xfrm>
            <a:off x="3400653" y="4028846"/>
            <a:ext cx="1877263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open 2,000 lines of XML</a:t>
            </a:r>
          </a:p>
        </p:txBody>
      </p:sp>
      <p:sp>
        <p:nvSpPr>
          <p:cNvPr id="22" name="h2p-text-21"/>
          <p:cNvSpPr txBox="1"/>
          <p:nvPr/>
        </p:nvSpPr>
        <p:spPr>
          <a:xfrm>
            <a:off x="5467197" y="4058107"/>
            <a:ext cx="105156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23" name="h2p-box-22"/>
          <p:cNvSpPr/>
          <p:nvPr/>
        </p:nvSpPr>
        <p:spPr>
          <a:xfrm>
            <a:off x="5734202" y="3924604"/>
            <a:ext cx="1123797" cy="418795"/>
          </a:xfrm>
          <a:prstGeom prst="roundRect">
            <a:avLst>
              <a:gd name="adj" fmla="val 909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2p-text-23"/>
          <p:cNvSpPr txBox="1"/>
          <p:nvPr/>
        </p:nvSpPr>
        <p:spPr>
          <a:xfrm>
            <a:off x="5896051" y="4028846"/>
            <a:ext cx="816559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edit blind</a:t>
            </a:r>
          </a:p>
        </p:txBody>
      </p:sp>
      <p:sp>
        <p:nvSpPr>
          <p:cNvPr id="25" name="h2p-text-24"/>
          <p:cNvSpPr txBox="1"/>
          <p:nvPr/>
        </p:nvSpPr>
        <p:spPr>
          <a:xfrm>
            <a:off x="6933895" y="4058107"/>
            <a:ext cx="105156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26" name="h2p-box-25"/>
          <p:cNvSpPr/>
          <p:nvPr/>
        </p:nvSpPr>
        <p:spPr>
          <a:xfrm>
            <a:off x="7200900" y="3924604"/>
            <a:ext cx="1684324" cy="418795"/>
          </a:xfrm>
          <a:prstGeom prst="roundRect">
            <a:avLst>
              <a:gd name="adj" fmla="val 909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2p-text-26"/>
          <p:cNvSpPr txBox="1"/>
          <p:nvPr/>
        </p:nvSpPr>
        <p:spPr>
          <a:xfrm>
            <a:off x="7362748" y="4028846"/>
            <a:ext cx="1387144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re-read to verify</a:t>
            </a:r>
          </a:p>
        </p:txBody>
      </p:sp>
      <p:sp>
        <p:nvSpPr>
          <p:cNvPr id="28" name="h2p-box-27"/>
          <p:cNvSpPr/>
          <p:nvPr/>
        </p:nvSpPr>
        <p:spPr>
          <a:xfrm>
            <a:off x="8057692" y="4352544"/>
            <a:ext cx="9144" cy="323697"/>
          </a:xfrm>
          <a:prstGeom prst="rect">
            <a:avLst/>
          </a:prstGeom>
          <a:solidFill>
            <a:srgbClr val="9C6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2p-box-28"/>
          <p:cNvSpPr/>
          <p:nvPr/>
        </p:nvSpPr>
        <p:spPr>
          <a:xfrm>
            <a:off x="1904695" y="4677156"/>
            <a:ext cx="6163056" cy="9144"/>
          </a:xfrm>
          <a:prstGeom prst="rect">
            <a:avLst/>
          </a:prstGeom>
          <a:solidFill>
            <a:srgbClr val="9C6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2p-box-29"/>
          <p:cNvSpPr/>
          <p:nvPr/>
        </p:nvSpPr>
        <p:spPr>
          <a:xfrm>
            <a:off x="1904695" y="4352544"/>
            <a:ext cx="9144" cy="323697"/>
          </a:xfrm>
          <a:prstGeom prst="rect">
            <a:avLst/>
          </a:prstGeom>
          <a:solidFill>
            <a:srgbClr val="9C6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2p-text-30"/>
          <p:cNvSpPr txBox="1"/>
          <p:nvPr/>
        </p:nvSpPr>
        <p:spPr>
          <a:xfrm>
            <a:off x="4591202" y="4762195"/>
            <a:ext cx="682142" cy="161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E8A33D"/>
                </a:solidFill>
                <a:latin typeface="JetBrains Mono"/>
              </a:rPr>
              <a:t>×50 turns</a:t>
            </a:r>
          </a:p>
        </p:txBody>
      </p:sp>
      <p:sp>
        <p:nvSpPr>
          <p:cNvPr id="32" name="h2p-text-31"/>
          <p:cNvSpPr txBox="1"/>
          <p:nvPr/>
        </p:nvSpPr>
        <p:spPr>
          <a:xfrm>
            <a:off x="914400" y="5191048"/>
            <a:ext cx="10570464" cy="198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E8A33D"/>
                </a:solidFill>
                <a:latin typeface="JetBrains Mono"/>
              </a:rPr>
              <a:t>cost ≈ context × turns. It cannot SEE the slide it's fixing — so it breaks alignment it never knew was there.</a:t>
            </a:r>
          </a:p>
        </p:txBody>
      </p:sp>
      <p:sp>
        <p:nvSpPr>
          <p:cNvPr id="33" name="h2p-text-32"/>
          <p:cNvSpPr txBox="1"/>
          <p:nvPr/>
        </p:nvSpPr>
        <p:spPr>
          <a:xfrm>
            <a:off x="811072" y="6019495"/>
            <a:ext cx="10570464" cy="2596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sz="1580">
                <a:solidFill>
                  <a:srgbClr val="C9BDA6"/>
                </a:solidFill>
                <a:latin typeface="Fraunces"/>
              </a:rPr>
              <a:t>It was never bad at design. It was </a:t>
            </a:r>
            <a:r>
              <a:rPr i="1" sz="1580">
                <a:solidFill>
                  <a:srgbClr val="E8A33D"/>
                </a:solidFill>
                <a:latin typeface="Fraunces"/>
              </a:rPr>
              <a:t>blind while editing</a:t>
            </a:r>
            <a:r>
              <a:rPr i="1" sz="1580">
                <a:solidFill>
                  <a:srgbClr val="C9BDA6"/>
                </a:solidFill>
                <a:latin typeface="Fraunces"/>
              </a:rPr>
              <a:t>.</a:t>
            </a:r>
          </a:p>
        </p:txBody>
      </p:sp>
      <p:sp>
        <p:nvSpPr>
          <p:cNvPr id="34" name="h2p-text-33"/>
          <p:cNvSpPr txBox="1"/>
          <p:nvPr/>
        </p:nvSpPr>
        <p:spPr>
          <a:xfrm>
            <a:off x="609904" y="6648602"/>
            <a:ext cx="2404872" cy="713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0">
                <a:solidFill>
                  <a:srgbClr val="8A8A84"/>
                </a:solidFill>
                <a:latin typeface="JetBrains Mono"/>
              </a:rPr>
              <a:t>hands-on-deck · slide 04/18 · built by deck.py — 38 ops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0" y="868680"/>
            <a:ext cx="8229600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229600" y="731520"/>
            <a:ext cx="548640" cy="13716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78240" y="731520"/>
            <a:ext cx="3410712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h2p-text-1"/>
          <p:cNvSpPr txBox="1"/>
          <p:nvPr/>
        </p:nvSpPr>
        <p:spPr>
          <a:xfrm>
            <a:off x="609904" y="457200"/>
            <a:ext cx="559612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8A8A84"/>
                </a:solidFill>
                <a:latin typeface="JetBrains Mono"/>
              </a:rPr>
              <a:t>THE BILL</a:t>
            </a:r>
          </a:p>
        </p:txBody>
      </p:sp>
      <p:sp>
        <p:nvSpPr>
          <p:cNvPr id="3" name="h2p-text-2"/>
          <p:cNvSpPr txBox="1"/>
          <p:nvPr/>
        </p:nvSpPr>
        <p:spPr>
          <a:xfrm>
            <a:off x="609904" y="1086307"/>
            <a:ext cx="3303727" cy="161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E8A33D"/>
                </a:solidFill>
                <a:latin typeface="JetBrains Mono"/>
              </a:rPr>
              <a:t>STEP 01 —</a:t>
            </a:r>
          </a:p>
        </p:txBody>
      </p:sp>
      <p:sp>
        <p:nvSpPr>
          <p:cNvPr id="4" name="h2p-text-3"/>
          <p:cNvSpPr txBox="1"/>
          <p:nvPr/>
        </p:nvSpPr>
        <p:spPr>
          <a:xfrm>
            <a:off x="609904" y="1352397"/>
            <a:ext cx="3303727" cy="963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450">
                <a:solidFill>
                  <a:srgbClr val="FFFEFB"/>
                </a:solidFill>
                <a:latin typeface="Fraunces"/>
              </a:rPr>
              <a:t>the $130</a:t>
            </a:r>
          </a:p>
          <a:p>
            <a: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450">
                <a:solidFill>
                  <a:srgbClr val="FFFEFB"/>
                </a:solidFill>
                <a:latin typeface="Fraunces"/>
              </a:rPr>
              <a:t>six-slide deck</a:t>
            </a:r>
          </a:p>
        </p:txBody>
      </p:sp>
      <p:sp>
        <p:nvSpPr>
          <p:cNvPr id="5" name="h2p-text-4"/>
          <p:cNvSpPr txBox="1"/>
          <p:nvPr/>
        </p:nvSpPr>
        <p:spPr>
          <a:xfrm>
            <a:off x="609904" y="2533802"/>
            <a:ext cx="3303727" cy="395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C9BDA6"/>
                </a:solidFill>
                <a:latin typeface="JetBrains Mono"/>
              </a:rPr>
              <a:t>fixing slides in raw XML = </a:t>
            </a:r>
            <a:r>
              <a:rPr sz="980">
                <a:solidFill>
                  <a:srgbClr val="E8A33D"/>
                </a:solidFill>
                <a:latin typeface="JetBrains Mono"/>
              </a:rPr>
              <a:t>50% of the entire bill</a:t>
            </a:r>
          </a:p>
        </p:txBody>
      </p:sp>
      <p:sp>
        <p:nvSpPr>
          <p:cNvPr id="6" name="h2p-text-5"/>
          <p:cNvSpPr txBox="1"/>
          <p:nvPr/>
        </p:nvSpPr>
        <p:spPr>
          <a:xfrm>
            <a:off x="609904" y="3143707"/>
            <a:ext cx="3303727" cy="5330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200">
                <a:solidFill>
                  <a:srgbClr val="FFFEFB"/>
                </a:solidFill>
                <a:latin typeface="Fraunces"/>
              </a:rPr>
              <a:t>166K</a:t>
            </a:r>
          </a:p>
        </p:txBody>
      </p:sp>
      <p:sp>
        <p:nvSpPr>
          <p:cNvPr id="7" name="h2p-text-6"/>
          <p:cNvSpPr txBox="1"/>
          <p:nvPr/>
        </p:nvSpPr>
        <p:spPr>
          <a:xfrm>
            <a:off x="629107" y="3714292"/>
            <a:ext cx="3303727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8A8A84"/>
                </a:solidFill>
                <a:latin typeface="JetBrains Mono"/>
              </a:rPr>
              <a:t>GENERATED</a:t>
            </a:r>
          </a:p>
        </p:txBody>
      </p:sp>
      <p:sp>
        <p:nvSpPr>
          <p:cNvPr id="8" name="h2p-text-7"/>
          <p:cNvSpPr txBox="1"/>
          <p:nvPr/>
        </p:nvSpPr>
        <p:spPr>
          <a:xfrm>
            <a:off x="609904" y="4095597"/>
            <a:ext cx="3303727" cy="5330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200">
                <a:solidFill>
                  <a:srgbClr val="FFFEFB"/>
                </a:solidFill>
                <a:latin typeface="Fraunces"/>
              </a:rPr>
              <a:t>29.6M</a:t>
            </a:r>
          </a:p>
        </p:txBody>
      </p:sp>
      <p:sp>
        <p:nvSpPr>
          <p:cNvPr id="9" name="h2p-text-8"/>
          <p:cNvSpPr txBox="1"/>
          <p:nvPr/>
        </p:nvSpPr>
        <p:spPr>
          <a:xfrm>
            <a:off x="629107" y="4667097"/>
            <a:ext cx="3303727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8A8A84"/>
                </a:solidFill>
                <a:latin typeface="JetBrains Mono"/>
              </a:rPr>
              <a:t>MOVED</a:t>
            </a:r>
          </a:p>
        </p:txBody>
      </p:sp>
      <p:sp>
        <p:nvSpPr>
          <p:cNvPr id="10" name="h2p-text-9"/>
          <p:cNvSpPr txBox="1"/>
          <p:nvPr/>
        </p:nvSpPr>
        <p:spPr>
          <a:xfrm>
            <a:off x="609904" y="5029200"/>
            <a:ext cx="3303727" cy="800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6300">
                <a:solidFill>
                  <a:srgbClr val="E8A33D"/>
                </a:solidFill>
                <a:latin typeface="Fraunces"/>
              </a:rPr>
              <a:t>$130</a:t>
            </a:r>
          </a:p>
        </p:txBody>
      </p:sp>
      <p:sp>
        <p:nvSpPr>
          <p:cNvPr id="11" name="h2p-text-10"/>
          <p:cNvSpPr txBox="1"/>
          <p:nvPr/>
        </p:nvSpPr>
        <p:spPr>
          <a:xfrm>
            <a:off x="811072" y="6019495"/>
            <a:ext cx="10570464" cy="2596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sz="1580">
                <a:solidFill>
                  <a:srgbClr val="C9BDA6"/>
                </a:solidFill>
                <a:latin typeface="Fraunces"/>
              </a:rPr>
              <a:t>The gap is the story. Each dot is </a:t>
            </a:r>
            <a:r>
              <a:rPr i="1" sz="1580">
                <a:solidFill>
                  <a:srgbClr val="E8A33D"/>
                </a:solidFill>
                <a:latin typeface="Fraunces"/>
              </a:rPr>
              <a:t>10,000 tokens</a:t>
            </a:r>
            <a:r>
              <a:rPr i="1" sz="1580">
                <a:solidFill>
                  <a:srgbClr val="C9BDA6"/>
                </a:solidFill>
                <a:latin typeface="Fraunces"/>
              </a:rPr>
              <a:t>.</a:t>
            </a:r>
          </a:p>
        </p:txBody>
      </p:sp>
      <p:sp>
        <p:nvSpPr>
          <p:cNvPr id="12" name="h2p-text-11"/>
          <p:cNvSpPr txBox="1"/>
          <p:nvPr/>
        </p:nvSpPr>
        <p:spPr>
          <a:xfrm>
            <a:off x="609904" y="6648602"/>
            <a:ext cx="2404872" cy="713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0">
                <a:solidFill>
                  <a:srgbClr val="8A8A84"/>
                </a:solidFill>
                <a:latin typeface="JetBrains Mono"/>
              </a:rPr>
              <a:t>hands-on-deck · slide 05/18 · built by deck.py — 21 ops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0" y="731520"/>
            <a:ext cx="4572000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0" y="731520"/>
            <a:ext cx="1097280" cy="256032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669280" y="3291840"/>
            <a:ext cx="6519672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text-2"/>
          <p:cNvSpPr txBox="1"/>
          <p:nvPr/>
        </p:nvSpPr>
        <p:spPr>
          <a:xfrm>
            <a:off x="381304" y="152704"/>
            <a:ext cx="2286000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0">
                <a:solidFill>
                  <a:srgbClr val="1F1F1D"/>
                </a:solidFill>
                <a:latin typeface="Fraunces"/>
              </a:rPr>
              <a:t>II</a:t>
            </a:r>
          </a:p>
        </p:txBody>
      </p:sp>
      <p:sp>
        <p:nvSpPr>
          <p:cNvPr id="4" name="h2p-text-3"/>
          <p:cNvSpPr txBox="1"/>
          <p:nvPr/>
        </p:nvSpPr>
        <p:spPr>
          <a:xfrm>
            <a:off x="609904" y="457200"/>
            <a:ext cx="1259128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E8A33D"/>
                </a:solidFill>
                <a:latin typeface="JetBrains Mono"/>
              </a:rPr>
              <a:t>ACT II — THE BIRTH</a:t>
            </a:r>
          </a:p>
        </p:txBody>
      </p:sp>
      <p:sp>
        <p:nvSpPr>
          <p:cNvPr id="5" name="h2p-text-4"/>
          <p:cNvSpPr txBox="1"/>
          <p:nvPr/>
        </p:nvSpPr>
        <p:spPr>
          <a:xfrm>
            <a:off x="914400" y="1410004"/>
            <a:ext cx="10104120" cy="5449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050">
                <a:solidFill>
                  <a:srgbClr val="FFFEFB"/>
                </a:solidFill>
                <a:latin typeface="Fraunces"/>
              </a:rPr>
              <a:t>I didn’t ask for a </a:t>
            </a:r>
            <a:r>
              <a:rPr i="1" sz="4050">
                <a:solidFill>
                  <a:srgbClr val="E8A33D"/>
                </a:solidFill>
                <a:latin typeface="Fraunces"/>
              </a:rPr>
              <a:t>better deck.</a:t>
            </a:r>
          </a:p>
        </p:txBody>
      </p:sp>
      <p:sp>
        <p:nvSpPr>
          <p:cNvPr id="6" name="h2p-box-5"/>
          <p:cNvSpPr/>
          <p:nvPr/>
        </p:nvSpPr>
        <p:spPr>
          <a:xfrm>
            <a:off x="914400" y="2857500"/>
            <a:ext cx="10362895" cy="1922068"/>
          </a:xfrm>
          <a:prstGeom prst="roundRect">
            <a:avLst>
              <a:gd name="adj" fmla="val 297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text-6"/>
          <p:cNvSpPr txBox="1"/>
          <p:nvPr/>
        </p:nvSpPr>
        <p:spPr>
          <a:xfrm>
            <a:off x="1362456" y="3209544"/>
            <a:ext cx="9656978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E8A33D"/>
                </a:solidFill>
                <a:latin typeface="JetBrains Mono"/>
              </a:rPr>
              <a:t>THE PROMPT — IN FULL</a:t>
            </a:r>
          </a:p>
        </p:txBody>
      </p:sp>
      <p:sp>
        <p:nvSpPr>
          <p:cNvPr id="8" name="h2p-text-7"/>
          <p:cNvSpPr txBox="1"/>
          <p:nvPr/>
        </p:nvSpPr>
        <p:spPr>
          <a:xfrm>
            <a:off x="1362456" y="3514953"/>
            <a:ext cx="9656978" cy="874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E8A33D"/>
                </a:solidFill>
                <a:latin typeface="JetBrains Mono"/>
              </a:rPr>
              <a:t>&gt; </a:t>
            </a:r>
            <a:r>
              <a:rPr sz="1280">
                <a:solidFill>
                  <a:srgbClr val="C9BDA6"/>
                </a:solidFill>
                <a:latin typeface="JetBrains Mono"/>
              </a:rPr>
              <a:t>look at all the steps and look at where we consume the most tokens, or </a:t>
            </a:r>
            <a:r>
              <a:rPr sz="1280">
                <a:solidFill>
                  <a:srgbClr val="E8A33D"/>
                </a:solidFill>
                <a:latin typeface="JetBrains Mono"/>
              </a:rPr>
              <a:t>where does it drift the most from how a human would do it</a:t>
            </a:r>
            <a:r>
              <a:rPr sz="1280">
                <a:solidFill>
                  <a:srgbClr val="C9BDA6"/>
                </a:solidFill>
                <a:latin typeface="JetBrains Mono"/>
              </a:rPr>
              <a:t>? And try to think of whether there is something, a tool, </a:t>
            </a:r>
            <a:r>
              <a:rPr sz="1280">
                <a:solidFill>
                  <a:srgbClr val="E8A33D"/>
                </a:solidFill>
                <a:latin typeface="JetBrains Mono"/>
              </a:rPr>
              <a:t>a NEW TOOL</a:t>
            </a:r>
            <a:r>
              <a:rPr sz="1280">
                <a:solidFill>
                  <a:srgbClr val="C9BDA6"/>
                </a:solidFill>
                <a:latin typeface="JetBrains Mono"/>
              </a:rPr>
              <a:t> that we can give to the agent to make it more efficient.</a:t>
            </a:r>
          </a:p>
        </p:txBody>
      </p:sp>
      <p:sp>
        <p:nvSpPr>
          <p:cNvPr id="9" name="h2p-text-8"/>
          <p:cNvSpPr txBox="1"/>
          <p:nvPr/>
        </p:nvSpPr>
        <p:spPr>
          <a:xfrm>
            <a:off x="5447995" y="4914900"/>
            <a:ext cx="5829300" cy="161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8A8A84"/>
                </a:solidFill>
                <a:latin typeface="JetBrains Mono"/>
              </a:rPr>
              <a:t>one prompt, pointed inward — June 5</a:t>
            </a:r>
          </a:p>
        </p:txBody>
      </p:sp>
      <p:sp>
        <p:nvSpPr>
          <p:cNvPr id="10" name="h2p-text-9"/>
          <p:cNvSpPr txBox="1"/>
          <p:nvPr/>
        </p:nvSpPr>
        <p:spPr>
          <a:xfrm>
            <a:off x="811072" y="6019495"/>
            <a:ext cx="10570464" cy="2596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sz="1580">
                <a:solidFill>
                  <a:srgbClr val="C9BDA6"/>
                </a:solidFill>
                <a:latin typeface="Fraunces"/>
              </a:rPr>
              <a:t>Point the model at its own </a:t>
            </a:r>
            <a:r>
              <a:rPr i="1" sz="1580">
                <a:solidFill>
                  <a:srgbClr val="E8A33D"/>
                </a:solidFill>
                <a:latin typeface="Fraunces"/>
              </a:rPr>
              <a:t>transcripts</a:t>
            </a:r>
            <a:r>
              <a:rPr i="1" sz="1580">
                <a:solidFill>
                  <a:srgbClr val="C9BDA6"/>
                </a:solidFill>
                <a:latin typeface="Fraunces"/>
              </a:rPr>
              <a:t>, not at the task.</a:t>
            </a:r>
          </a:p>
        </p:txBody>
      </p:sp>
      <p:sp>
        <p:nvSpPr>
          <p:cNvPr id="11" name="h2p-text-10"/>
          <p:cNvSpPr txBox="1"/>
          <p:nvPr/>
        </p:nvSpPr>
        <p:spPr>
          <a:xfrm>
            <a:off x="609904" y="6667804"/>
            <a:ext cx="2404872" cy="950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buNone/>
              <a:lnSpc>
                <a:spcPts val="680"/>
              </a:lnSpc>
              <a:spcBef>
                <a:spcPts val="0"/>
              </a:spcBef>
              <a:spcAft>
                <a:spcPts val="0"/>
              </a:spcAft>
            </a:pPr>
            <a:r>
              <a:rPr sz="560">
                <a:solidFill>
                  <a:srgbClr val="8A8A84"/>
                </a:solidFill>
                <a:latin typeface="JetBrains Mono"/>
              </a:rPr>
              <a:t>hands-on-deck · slide 06/18 · built by deck.py — 17 ops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3291840"/>
            <a:ext cx="274320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74320" y="2651760"/>
            <a:ext cx="548640" cy="64008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2960" y="2651760"/>
            <a:ext cx="11365992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text-2"/>
          <p:cNvSpPr txBox="1"/>
          <p:nvPr/>
        </p:nvSpPr>
        <p:spPr>
          <a:xfrm>
            <a:off x="609904" y="457200"/>
            <a:ext cx="909828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8A8A84"/>
                </a:solidFill>
                <a:latin typeface="JetBrains Mono"/>
              </a:rPr>
              <a:t>THE DIAGNOSIS</a:t>
            </a:r>
          </a:p>
        </p:txBody>
      </p:sp>
      <p:sp>
        <p:nvSpPr>
          <p:cNvPr id="4" name="h2p-text-3"/>
          <p:cNvSpPr txBox="1"/>
          <p:nvPr/>
        </p:nvSpPr>
        <p:spPr>
          <a:xfrm>
            <a:off x="914400" y="1067104"/>
            <a:ext cx="9715500" cy="5449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050">
                <a:solidFill>
                  <a:srgbClr val="FFFEFB"/>
                </a:solidFill>
                <a:latin typeface="Fraunces"/>
              </a:rPr>
              <a:t>The diagnosis — with </a:t>
            </a:r>
            <a:r>
              <a:rPr i="1" sz="4050">
                <a:solidFill>
                  <a:srgbClr val="E8A33D"/>
                </a:solidFill>
                <a:latin typeface="Fraunces"/>
              </a:rPr>
              <a:t>receipts</a:t>
            </a:r>
          </a:p>
        </p:txBody>
      </p:sp>
      <p:sp>
        <p:nvSpPr>
          <p:cNvPr id="5" name="h2p-box-4"/>
          <p:cNvSpPr/>
          <p:nvPr/>
        </p:nvSpPr>
        <p:spPr>
          <a:xfrm>
            <a:off x="914400" y="2286000"/>
            <a:ext cx="6476695" cy="2819095"/>
          </a:xfrm>
          <a:prstGeom prst="roundRect">
            <a:avLst>
              <a:gd name="adj" fmla="val 2029"/>
            </a:avLst>
          </a:prstGeom>
          <a:solidFill>
            <a:srgbClr val="16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14400" y="2295144"/>
            <a:ext cx="6476695" cy="0"/>
          </a:xfrm>
          <a:prstGeom prst="line">
            <a:avLst/>
          </a:prstGeom>
          <a:ln w="19050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86523" y="2286000"/>
            <a:ext cx="0" cy="2819095"/>
          </a:xfrm>
          <a:prstGeom prst="line">
            <a:avLst/>
          </a:prstGeom>
          <a:ln w="10160">
            <a:solidFill>
              <a:srgbClr val="2A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4400" y="5100523"/>
            <a:ext cx="6476695" cy="0"/>
          </a:xfrm>
          <a:prstGeom prst="line">
            <a:avLst/>
          </a:prstGeom>
          <a:ln w="10160">
            <a:solidFill>
              <a:srgbClr val="2A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8971" y="2286000"/>
            <a:ext cx="0" cy="2819095"/>
          </a:xfrm>
          <a:prstGeom prst="line">
            <a:avLst/>
          </a:prstGeom>
          <a:ln w="10160">
            <a:solidFill>
              <a:srgbClr val="2A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h2p-text-5"/>
          <p:cNvSpPr txBox="1"/>
          <p:nvPr/>
        </p:nvSpPr>
        <p:spPr>
          <a:xfrm>
            <a:off x="1266444" y="2553004"/>
            <a:ext cx="5887821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E8A33D"/>
                </a:solidFill>
                <a:latin typeface="JetBrains Mono"/>
              </a:rPr>
              <a:t>FABLE'S OUTPUT — VERBATIM</a:t>
            </a:r>
          </a:p>
        </p:txBody>
      </p:sp>
      <p:sp>
        <p:nvSpPr>
          <p:cNvPr id="11" name="h2p-text-6"/>
          <p:cNvSpPr txBox="1"/>
          <p:nvPr/>
        </p:nvSpPr>
        <p:spPr>
          <a:xfrm>
            <a:off x="1266444" y="2915107"/>
            <a:ext cx="256946" cy="133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8A8A84"/>
                </a:solidFill>
                <a:latin typeface="JetBrains Mono"/>
              </a:rPr>
              <a:t>STEP</a:t>
            </a:r>
          </a:p>
        </p:txBody>
      </p:sp>
      <p:sp>
        <p:nvSpPr>
          <p:cNvPr id="12" name="h2p-text-7"/>
          <p:cNvSpPr txBox="1"/>
          <p:nvPr/>
        </p:nvSpPr>
        <p:spPr>
          <a:xfrm>
            <a:off x="4657953" y="2915107"/>
            <a:ext cx="384962" cy="133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8A8A84"/>
                </a:solidFill>
                <a:latin typeface="JetBrains Mono"/>
              </a:rPr>
              <a:t>METHOD</a:t>
            </a:r>
          </a:p>
        </p:txBody>
      </p:sp>
      <p:sp>
        <p:nvSpPr>
          <p:cNvPr id="13" name="h2p-text-8"/>
          <p:cNvSpPr txBox="1"/>
          <p:nvPr/>
        </p:nvSpPr>
        <p:spPr>
          <a:xfrm>
            <a:off x="5950915" y="2915107"/>
            <a:ext cx="1107338" cy="133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8A8A84"/>
                </a:solidFill>
                <a:latin typeface="JetBrains Mono"/>
              </a:rPr>
              <a:t>TOKENS / AGENT</a:t>
            </a:r>
          </a:p>
        </p:txBody>
      </p:sp>
      <p:sp>
        <p:nvSpPr>
          <p:cNvPr id="14" name="h2p-box-9"/>
          <p:cNvSpPr/>
          <p:nvPr/>
        </p:nvSpPr>
        <p:spPr>
          <a:xfrm>
            <a:off x="1266444" y="3105302"/>
            <a:ext cx="5790895" cy="9144"/>
          </a:xfrm>
          <a:prstGeom prst="rect">
            <a:avLst/>
          </a:prstGeom>
          <a:solidFill>
            <a:srgbClr val="2A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2p-text-10"/>
          <p:cNvSpPr txBox="1"/>
          <p:nvPr/>
        </p:nvSpPr>
        <p:spPr>
          <a:xfrm>
            <a:off x="1266444" y="3257092"/>
            <a:ext cx="1795881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write the build script</a:t>
            </a:r>
          </a:p>
        </p:txBody>
      </p:sp>
      <p:sp>
        <p:nvSpPr>
          <p:cNvPr id="16" name="h2p-text-11"/>
          <p:cNvSpPr txBox="1"/>
          <p:nvPr/>
        </p:nvSpPr>
        <p:spPr>
          <a:xfrm>
            <a:off x="4657953" y="3257092"/>
            <a:ext cx="652881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8A8A84"/>
                </a:solidFill>
                <a:latin typeface="JetBrains Mono"/>
              </a:rPr>
              <a:t>scripted</a:t>
            </a:r>
          </a:p>
        </p:txBody>
      </p:sp>
      <p:sp>
        <p:nvSpPr>
          <p:cNvPr id="17" name="h2p-text-12"/>
          <p:cNvSpPr txBox="1"/>
          <p:nvPr/>
        </p:nvSpPr>
        <p:spPr>
          <a:xfrm>
            <a:off x="5950915" y="3257092"/>
            <a:ext cx="1107338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~0.6M</a:t>
            </a:r>
          </a:p>
        </p:txBody>
      </p:sp>
      <p:sp>
        <p:nvSpPr>
          <p:cNvPr id="18" name="h2p-box-13"/>
          <p:cNvSpPr/>
          <p:nvPr/>
        </p:nvSpPr>
        <p:spPr>
          <a:xfrm>
            <a:off x="1266444" y="3543300"/>
            <a:ext cx="5790895" cy="9144"/>
          </a:xfrm>
          <a:prstGeom prst="rect">
            <a:avLst/>
          </a:prstGeom>
          <a:solidFill>
            <a:srgbClr val="2A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2p-text-14"/>
          <p:cNvSpPr txBox="1"/>
          <p:nvPr/>
        </p:nvSpPr>
        <p:spPr>
          <a:xfrm>
            <a:off x="1266444" y="3696004"/>
            <a:ext cx="1550822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run · render · ship</a:t>
            </a:r>
          </a:p>
        </p:txBody>
      </p:sp>
      <p:sp>
        <p:nvSpPr>
          <p:cNvPr id="20" name="h2p-text-15"/>
          <p:cNvSpPr txBox="1"/>
          <p:nvPr/>
        </p:nvSpPr>
        <p:spPr>
          <a:xfrm>
            <a:off x="4657953" y="3696004"/>
            <a:ext cx="652881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8A8A84"/>
                </a:solidFill>
                <a:latin typeface="JetBrains Mono"/>
              </a:rPr>
              <a:t>scripted</a:t>
            </a:r>
          </a:p>
        </p:txBody>
      </p:sp>
      <p:sp>
        <p:nvSpPr>
          <p:cNvPr id="21" name="h2p-text-16"/>
          <p:cNvSpPr txBox="1"/>
          <p:nvPr/>
        </p:nvSpPr>
        <p:spPr>
          <a:xfrm>
            <a:off x="5950915" y="3696004"/>
            <a:ext cx="1107338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~0.7M</a:t>
            </a:r>
          </a:p>
        </p:txBody>
      </p:sp>
      <p:sp>
        <p:nvSpPr>
          <p:cNvPr id="22" name="h2p-box-17"/>
          <p:cNvSpPr/>
          <p:nvPr/>
        </p:nvSpPr>
        <p:spPr>
          <a:xfrm>
            <a:off x="1266444" y="3981297"/>
            <a:ext cx="5790895" cy="9144"/>
          </a:xfrm>
          <a:prstGeom prst="rect">
            <a:avLst/>
          </a:prstGeom>
          <a:solidFill>
            <a:srgbClr val="2A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text-18"/>
          <p:cNvSpPr txBox="1"/>
          <p:nvPr/>
        </p:nvSpPr>
        <p:spPr>
          <a:xfrm>
            <a:off x="1266444" y="4134002"/>
            <a:ext cx="1713585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FFFEFB"/>
                </a:solidFill>
                <a:latin typeface="JetBrains Mono"/>
              </a:rPr>
              <a:t>edit slide XML, blind</a:t>
            </a:r>
          </a:p>
        </p:txBody>
      </p:sp>
      <p:sp>
        <p:nvSpPr>
          <p:cNvPr id="24" name="h2p-text-19"/>
          <p:cNvSpPr txBox="1"/>
          <p:nvPr/>
        </p:nvSpPr>
        <p:spPr>
          <a:xfrm>
            <a:off x="4657953" y="4134002"/>
            <a:ext cx="571500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8A33D"/>
                </a:solidFill>
                <a:latin typeface="JetBrains Mono"/>
              </a:rPr>
              <a:t>raw XML</a:t>
            </a:r>
          </a:p>
        </p:txBody>
      </p:sp>
      <p:sp>
        <p:nvSpPr>
          <p:cNvPr id="25" name="h2p-text-20"/>
          <p:cNvSpPr txBox="1"/>
          <p:nvPr/>
        </p:nvSpPr>
        <p:spPr>
          <a:xfrm>
            <a:off x="5950915" y="4134002"/>
            <a:ext cx="1107338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EFB"/>
                </a:solidFill>
                <a:latin typeface="JetBrains Mono"/>
              </a:rPr>
              <a:t>2.7M</a:t>
            </a:r>
          </a:p>
        </p:txBody>
      </p:sp>
      <p:sp>
        <p:nvSpPr>
          <p:cNvPr id="26" name="h2p-box-21"/>
          <p:cNvSpPr/>
          <p:nvPr/>
        </p:nvSpPr>
        <p:spPr>
          <a:xfrm>
            <a:off x="1266444" y="4419295"/>
            <a:ext cx="5790895" cy="9144"/>
          </a:xfrm>
          <a:prstGeom prst="rect">
            <a:avLst/>
          </a:prstGeom>
          <a:solidFill>
            <a:srgbClr val="2A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2p-text-22"/>
          <p:cNvSpPr txBox="1"/>
          <p:nvPr/>
        </p:nvSpPr>
        <p:spPr>
          <a:xfrm>
            <a:off x="1266444" y="4572000"/>
            <a:ext cx="2285085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FFFEFB"/>
                </a:solidFill>
                <a:latin typeface="JetBrains Mono"/>
              </a:rPr>
              <a:t>re-read to verify, ×50 turns</a:t>
            </a:r>
          </a:p>
        </p:txBody>
      </p:sp>
      <p:sp>
        <p:nvSpPr>
          <p:cNvPr id="28" name="h2p-text-23"/>
          <p:cNvSpPr txBox="1"/>
          <p:nvPr/>
        </p:nvSpPr>
        <p:spPr>
          <a:xfrm>
            <a:off x="4657953" y="4572000"/>
            <a:ext cx="571500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8A33D"/>
                </a:solidFill>
                <a:latin typeface="JetBrains Mono"/>
              </a:rPr>
              <a:t>raw XML</a:t>
            </a:r>
          </a:p>
        </p:txBody>
      </p:sp>
      <p:sp>
        <p:nvSpPr>
          <p:cNvPr id="29" name="h2p-text-24"/>
          <p:cNvSpPr txBox="1"/>
          <p:nvPr/>
        </p:nvSpPr>
        <p:spPr>
          <a:xfrm>
            <a:off x="5950915" y="4572000"/>
            <a:ext cx="1107338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EFB"/>
                </a:solidFill>
                <a:latin typeface="JetBrains Mono"/>
              </a:rPr>
              <a:t>6M</a:t>
            </a:r>
          </a:p>
        </p:txBody>
      </p:sp>
      <p:sp>
        <p:nvSpPr>
          <p:cNvPr id="30" name="h2p-text-25"/>
          <p:cNvSpPr txBox="1"/>
          <p:nvPr/>
        </p:nvSpPr>
        <p:spPr>
          <a:xfrm>
            <a:off x="7962595" y="2266797"/>
            <a:ext cx="329184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7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7800">
                <a:solidFill>
                  <a:srgbClr val="E8A33D"/>
                </a:solidFill>
                <a:latin typeface="Fraunces"/>
              </a:rPr>
              <a:t>4–10×</a:t>
            </a:r>
          </a:p>
        </p:txBody>
      </p:sp>
      <p:sp>
        <p:nvSpPr>
          <p:cNvPr id="31" name="h2p-text-26"/>
          <p:cNvSpPr txBox="1"/>
          <p:nvPr/>
        </p:nvSpPr>
        <p:spPr>
          <a:xfrm>
            <a:off x="8001000" y="3390595"/>
            <a:ext cx="1894636" cy="161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8A8A84"/>
                </a:solidFill>
                <a:latin typeface="JetBrains Mono"/>
              </a:rPr>
              <a:t>the raw-XML tax, per step</a:t>
            </a:r>
          </a:p>
        </p:txBody>
      </p:sp>
      <p:sp>
        <p:nvSpPr>
          <p:cNvPr id="32" name="h2p-box-27"/>
          <p:cNvSpPr/>
          <p:nvPr/>
        </p:nvSpPr>
        <p:spPr>
          <a:xfrm>
            <a:off x="8001000" y="3810304"/>
            <a:ext cx="3276295" cy="9144"/>
          </a:xfrm>
          <a:prstGeom prst="rect">
            <a:avLst/>
          </a:prstGeom>
          <a:solidFill>
            <a:srgbClr val="2A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2p-text-28"/>
          <p:cNvSpPr txBox="1"/>
          <p:nvPr/>
        </p:nvSpPr>
        <p:spPr>
          <a:xfrm>
            <a:off x="8001000" y="4058107"/>
            <a:ext cx="3342132" cy="5330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sz="1500">
                <a:solidFill>
                  <a:srgbClr val="C9BDA6"/>
                </a:solidFill>
                <a:latin typeface="Fraunces"/>
              </a:rPr>
              <a:t>“the cost isn’t the editing, it’s the XML entering the model’s context”</a:t>
            </a:r>
          </a:p>
        </p:txBody>
      </p:sp>
      <p:sp>
        <p:nvSpPr>
          <p:cNvPr id="34" name="h2p-text-29"/>
          <p:cNvSpPr txBox="1"/>
          <p:nvPr/>
        </p:nvSpPr>
        <p:spPr>
          <a:xfrm>
            <a:off x="8001000" y="5201107"/>
            <a:ext cx="3342132" cy="3099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sz="1880">
                <a:solidFill>
                  <a:srgbClr val="FFFEFB"/>
                </a:solidFill>
                <a:latin typeface="Fraunces"/>
              </a:rPr>
              <a:t>“markup </a:t>
            </a:r>
            <a:r>
              <a:rPr i="1" sz="1880">
                <a:solidFill>
                  <a:srgbClr val="E8A33D"/>
                </a:solidFill>
                <a:latin typeface="Fraunces"/>
              </a:rPr>
              <a:t>archaeology</a:t>
            </a:r>
            <a:r>
              <a:rPr i="1" sz="1880">
                <a:solidFill>
                  <a:srgbClr val="FFFEFB"/>
                </a:solidFill>
                <a:latin typeface="Fraunces"/>
              </a:rPr>
              <a:t>”</a:t>
            </a:r>
          </a:p>
        </p:txBody>
      </p:sp>
      <p:sp>
        <p:nvSpPr>
          <p:cNvPr id="35" name="h2p-text-30"/>
          <p:cNvSpPr txBox="1"/>
          <p:nvPr/>
        </p:nvSpPr>
        <p:spPr>
          <a:xfrm>
            <a:off x="811072" y="6019495"/>
            <a:ext cx="10570464" cy="2596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sz="1580">
                <a:solidFill>
                  <a:srgbClr val="C9BDA6"/>
                </a:solidFill>
                <a:latin typeface="Fraunces"/>
              </a:rPr>
              <a:t>Keep </a:t>
            </a:r>
            <a:r>
              <a:rPr i="1" sz="1580">
                <a:solidFill>
                  <a:srgbClr val="E8A33D"/>
                </a:solidFill>
                <a:latin typeface="Fraunces"/>
              </a:rPr>
              <a:t>bytes</a:t>
            </a:r>
            <a:r>
              <a:rPr i="1" sz="1580">
                <a:solidFill>
                  <a:srgbClr val="C9BDA6"/>
                </a:solidFill>
                <a:latin typeface="Fraunces"/>
              </a:rPr>
              <a:t> out of the context window.</a:t>
            </a:r>
          </a:p>
        </p:txBody>
      </p:sp>
      <p:sp>
        <p:nvSpPr>
          <p:cNvPr id="36" name="h2p-text-31"/>
          <p:cNvSpPr txBox="1"/>
          <p:nvPr/>
        </p:nvSpPr>
        <p:spPr>
          <a:xfrm>
            <a:off x="609904" y="6667804"/>
            <a:ext cx="2404872" cy="950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buNone/>
              <a:lnSpc>
                <a:spcPts val="680"/>
              </a:lnSpc>
              <a:spcBef>
                <a:spcPts val="0"/>
              </a:spcBef>
              <a:spcAft>
                <a:spcPts val="0"/>
              </a:spcAft>
            </a:pPr>
            <a:r>
              <a:rPr sz="560">
                <a:solidFill>
                  <a:srgbClr val="8A8A84"/>
                </a:solidFill>
                <a:latin typeface="JetBrains Mono"/>
              </a:rPr>
              <a:t>hands-on-deck · slide 07/18 · built by deck.py — 43 ops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0" y="2651760"/>
            <a:ext cx="320040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20040" y="2011680"/>
            <a:ext cx="548640" cy="64008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68680" y="2011680"/>
            <a:ext cx="11320272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text-2"/>
          <p:cNvSpPr txBox="1"/>
          <p:nvPr/>
        </p:nvSpPr>
        <p:spPr>
          <a:xfrm>
            <a:off x="609904" y="457200"/>
            <a:ext cx="490118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8A8A84"/>
                </a:solidFill>
                <a:latin typeface="JetBrains Mono"/>
              </a:rPr>
              <a:t>THE GAP</a:t>
            </a:r>
          </a:p>
        </p:txBody>
      </p:sp>
      <p:sp>
        <p:nvSpPr>
          <p:cNvPr id="4" name="h2p-text-3"/>
          <p:cNvSpPr txBox="1"/>
          <p:nvPr/>
        </p:nvSpPr>
        <p:spPr>
          <a:xfrm>
            <a:off x="914400" y="1067104"/>
            <a:ext cx="9715500" cy="5449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050">
                <a:solidFill>
                  <a:srgbClr val="FFFEFB"/>
                </a:solidFill>
                <a:latin typeface="Fraunces"/>
              </a:rPr>
              <a:t>It found the </a:t>
            </a:r>
            <a:r>
              <a:rPr i="1" sz="4050">
                <a:solidFill>
                  <a:srgbClr val="E8A33D"/>
                </a:solidFill>
                <a:latin typeface="Fraunces"/>
              </a:rPr>
              <a:t>missing middle</a:t>
            </a:r>
          </a:p>
        </p:txBody>
      </p:sp>
      <p:sp>
        <p:nvSpPr>
          <p:cNvPr id="5" name="h2p-box-4"/>
          <p:cNvSpPr/>
          <p:nvPr/>
        </p:nvSpPr>
        <p:spPr>
          <a:xfrm>
            <a:off x="914400" y="2114092"/>
            <a:ext cx="10362895" cy="2247595"/>
          </a:xfrm>
          <a:prstGeom prst="roundRect">
            <a:avLst>
              <a:gd name="adj" fmla="val 2540"/>
            </a:avLst>
          </a:prstGeom>
          <a:solidFill>
            <a:srgbClr val="16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14400" y="2124151"/>
            <a:ext cx="10362895" cy="0"/>
          </a:xfrm>
          <a:prstGeom prst="line">
            <a:avLst/>
          </a:prstGeom>
          <a:ln w="19050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272723" y="2114092"/>
            <a:ext cx="0" cy="2248510"/>
          </a:xfrm>
          <a:prstGeom prst="line">
            <a:avLst/>
          </a:prstGeom>
          <a:ln w="10160">
            <a:solidFill>
              <a:srgbClr val="2A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4400" y="4358030"/>
            <a:ext cx="10362895" cy="0"/>
          </a:xfrm>
          <a:prstGeom prst="line">
            <a:avLst/>
          </a:prstGeom>
          <a:ln w="10160">
            <a:solidFill>
              <a:srgbClr val="2A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8971" y="2114092"/>
            <a:ext cx="0" cy="2248510"/>
          </a:xfrm>
          <a:prstGeom prst="line">
            <a:avLst/>
          </a:prstGeom>
          <a:ln w="10160">
            <a:solidFill>
              <a:srgbClr val="2A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h2p-text-5"/>
          <p:cNvSpPr txBox="1"/>
          <p:nvPr/>
        </p:nvSpPr>
        <p:spPr>
          <a:xfrm>
            <a:off x="1304848" y="2381097"/>
            <a:ext cx="9774021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E8A33D"/>
                </a:solidFill>
                <a:latin typeface="JetBrains Mono"/>
              </a:rPr>
              <a:t>FABLE'S OUTPUT — VERBATIM</a:t>
            </a:r>
          </a:p>
        </p:txBody>
      </p:sp>
      <p:sp>
        <p:nvSpPr>
          <p:cNvPr id="11" name="h2p-text-6"/>
          <p:cNvSpPr txBox="1"/>
          <p:nvPr/>
        </p:nvSpPr>
        <p:spPr>
          <a:xfrm>
            <a:off x="1304848" y="2799892"/>
            <a:ext cx="699516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8A8A84"/>
                </a:solidFill>
                <a:latin typeface="JetBrains Mono"/>
              </a:rPr>
              <a:t>DECK LEVEL</a:t>
            </a:r>
          </a:p>
        </p:txBody>
      </p:sp>
      <p:sp>
        <p:nvSpPr>
          <p:cNvPr id="12" name="h2p-text-7"/>
          <p:cNvSpPr txBox="1"/>
          <p:nvPr/>
        </p:nvSpPr>
        <p:spPr>
          <a:xfrm>
            <a:off x="2943453" y="2781604"/>
            <a:ext cx="1224381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C9BDA6"/>
                </a:solidFill>
                <a:latin typeface="JetBrains Mono"/>
              </a:rPr>
              <a:t>blueprint.json</a:t>
            </a:r>
          </a:p>
        </p:txBody>
      </p:sp>
      <p:sp>
        <p:nvSpPr>
          <p:cNvPr id="13" name="h2p-text-8"/>
          <p:cNvSpPr txBox="1"/>
          <p:nvPr/>
        </p:nvSpPr>
        <p:spPr>
          <a:xfrm>
            <a:off x="5152644" y="2781604"/>
            <a:ext cx="87782" cy="1901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14" name="h2p-text-9"/>
          <p:cNvSpPr txBox="1"/>
          <p:nvPr/>
        </p:nvSpPr>
        <p:spPr>
          <a:xfrm>
            <a:off x="5724144" y="2781604"/>
            <a:ext cx="2010765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C9BDA6"/>
                </a:solidFill>
                <a:latin typeface="JetBrains Mono"/>
              </a:rPr>
              <a:t>rearrange / merge_decks</a:t>
            </a:r>
          </a:p>
        </p:txBody>
      </p:sp>
      <p:sp>
        <p:nvSpPr>
          <p:cNvPr id="15" name="h2p-text-10"/>
          <p:cNvSpPr txBox="1"/>
          <p:nvPr/>
        </p:nvSpPr>
        <p:spPr>
          <a:xfrm>
            <a:off x="9118396" y="2781604"/>
            <a:ext cx="1787652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8A8A84"/>
                </a:solidFill>
                <a:latin typeface="JetBrains Mono"/>
              </a:rPr>
              <a:t>✓ exists</a:t>
            </a:r>
          </a:p>
        </p:txBody>
      </p:sp>
      <p:sp>
        <p:nvSpPr>
          <p:cNvPr id="16" name="h2p-box-11"/>
          <p:cNvSpPr/>
          <p:nvPr/>
        </p:nvSpPr>
        <p:spPr>
          <a:xfrm>
            <a:off x="1304848" y="3086100"/>
            <a:ext cx="9601200" cy="9144"/>
          </a:xfrm>
          <a:prstGeom prst="rect">
            <a:avLst/>
          </a:prstGeom>
          <a:solidFill>
            <a:srgbClr val="2A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2p-box-12"/>
          <p:cNvSpPr/>
          <p:nvPr/>
        </p:nvSpPr>
        <p:spPr>
          <a:xfrm>
            <a:off x="1152144" y="3200400"/>
            <a:ext cx="9905695" cy="418795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162202" y="3200400"/>
            <a:ext cx="0" cy="418795"/>
          </a:xfrm>
          <a:prstGeom prst="line">
            <a:avLst/>
          </a:prstGeom>
          <a:ln w="19050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h2p-text-13"/>
          <p:cNvSpPr txBox="1"/>
          <p:nvPr/>
        </p:nvSpPr>
        <p:spPr>
          <a:xfrm>
            <a:off x="1304848" y="3333902"/>
            <a:ext cx="769924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C9BDA6"/>
                </a:solidFill>
                <a:latin typeface="JetBrains Mono"/>
              </a:rPr>
              <a:t>SLIDE LEVEL</a:t>
            </a:r>
          </a:p>
        </p:txBody>
      </p:sp>
      <p:sp>
        <p:nvSpPr>
          <p:cNvPr id="20" name="h2p-text-14"/>
          <p:cNvSpPr txBox="1"/>
          <p:nvPr/>
        </p:nvSpPr>
        <p:spPr>
          <a:xfrm>
            <a:off x="2943453" y="3314700"/>
            <a:ext cx="874166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FFFEFB"/>
                </a:solidFill>
                <a:latin typeface="JetBrains Mono"/>
              </a:rPr>
              <a:t>patch.json</a:t>
            </a:r>
          </a:p>
        </p:txBody>
      </p:sp>
      <p:sp>
        <p:nvSpPr>
          <p:cNvPr id="21" name="h2p-text-15"/>
          <p:cNvSpPr txBox="1"/>
          <p:nvPr/>
        </p:nvSpPr>
        <p:spPr>
          <a:xfrm>
            <a:off x="5152644" y="3314700"/>
            <a:ext cx="87782" cy="1901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22" name="h2p-text-16"/>
          <p:cNvSpPr txBox="1"/>
          <p:nvPr/>
        </p:nvSpPr>
        <p:spPr>
          <a:xfrm>
            <a:off x="5724144" y="3314700"/>
            <a:ext cx="262432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E8A33D"/>
                </a:solidFill>
                <a:latin typeface="JetBrains Mono"/>
              </a:rPr>
              <a:t>???</a:t>
            </a:r>
          </a:p>
        </p:txBody>
      </p:sp>
      <p:sp>
        <p:nvSpPr>
          <p:cNvPr id="23" name="h2p-text-17"/>
          <p:cNvSpPr txBox="1"/>
          <p:nvPr/>
        </p:nvSpPr>
        <p:spPr>
          <a:xfrm>
            <a:off x="9118396" y="3314700"/>
            <a:ext cx="1787652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E8A33D"/>
                </a:solidFill>
                <a:latin typeface="JetBrains Mono"/>
              </a:rPr>
              <a:t>✗ the gap</a:t>
            </a:r>
          </a:p>
        </p:txBody>
      </p:sp>
      <p:sp>
        <p:nvSpPr>
          <p:cNvPr id="24" name="h2p-box-18"/>
          <p:cNvSpPr/>
          <p:nvPr/>
        </p:nvSpPr>
        <p:spPr>
          <a:xfrm>
            <a:off x="1304848" y="3714292"/>
            <a:ext cx="9601200" cy="9144"/>
          </a:xfrm>
          <a:prstGeom prst="rect">
            <a:avLst/>
          </a:prstGeom>
          <a:solidFill>
            <a:srgbClr val="2A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2p-text-19"/>
          <p:cNvSpPr txBox="1"/>
          <p:nvPr/>
        </p:nvSpPr>
        <p:spPr>
          <a:xfrm>
            <a:off x="1304848" y="3847795"/>
            <a:ext cx="769924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8A8A84"/>
                </a:solidFill>
                <a:latin typeface="JetBrains Mono"/>
              </a:rPr>
              <a:t>PIXEL LEVEL</a:t>
            </a:r>
          </a:p>
        </p:txBody>
      </p:sp>
      <p:sp>
        <p:nvSpPr>
          <p:cNvPr id="26" name="h2p-text-20"/>
          <p:cNvSpPr txBox="1"/>
          <p:nvPr/>
        </p:nvSpPr>
        <p:spPr>
          <a:xfrm>
            <a:off x="2943453" y="3829507"/>
            <a:ext cx="699516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C9BDA6"/>
                </a:solidFill>
                <a:latin typeface="JetBrains Mono"/>
              </a:rPr>
              <a:t>judgment</a:t>
            </a:r>
          </a:p>
        </p:txBody>
      </p:sp>
      <p:sp>
        <p:nvSpPr>
          <p:cNvPr id="27" name="h2p-text-21"/>
          <p:cNvSpPr txBox="1"/>
          <p:nvPr/>
        </p:nvSpPr>
        <p:spPr>
          <a:xfrm>
            <a:off x="5152644" y="3829507"/>
            <a:ext cx="87782" cy="1901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28" name="h2p-text-22"/>
          <p:cNvSpPr txBox="1"/>
          <p:nvPr/>
        </p:nvSpPr>
        <p:spPr>
          <a:xfrm>
            <a:off x="5724144" y="3829507"/>
            <a:ext cx="2273198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C9BDA6"/>
                </a:solidFill>
                <a:latin typeface="JetBrains Mono"/>
              </a:rPr>
              <a:t>LLM looks at rendered JPGs</a:t>
            </a:r>
          </a:p>
        </p:txBody>
      </p:sp>
      <p:sp>
        <p:nvSpPr>
          <p:cNvPr id="29" name="h2p-text-23"/>
          <p:cNvSpPr txBox="1"/>
          <p:nvPr/>
        </p:nvSpPr>
        <p:spPr>
          <a:xfrm>
            <a:off x="9118396" y="3829507"/>
            <a:ext cx="1787652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8A8A84"/>
                </a:solidFill>
                <a:latin typeface="JetBrains Mono"/>
              </a:rPr>
              <a:t>✓ exists</a:t>
            </a:r>
          </a:p>
        </p:txBody>
      </p:sp>
      <p:sp>
        <p:nvSpPr>
          <p:cNvPr id="30" name="h2p-text-24"/>
          <p:cNvSpPr txBox="1"/>
          <p:nvPr/>
        </p:nvSpPr>
        <p:spPr>
          <a:xfrm>
            <a:off x="1121968" y="4800600"/>
            <a:ext cx="99486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rgbClr val="FFFEFB"/>
                </a:solidFill>
                <a:latin typeface="Fraunces"/>
              </a:rPr>
              <a:t>The LLM compiles intent; scripts execute.</a:t>
            </a:r>
          </a:p>
        </p:txBody>
      </p:sp>
      <p:sp>
        <p:nvSpPr>
          <p:cNvPr id="31" name="h2p-text-25"/>
          <p:cNvSpPr txBox="1"/>
          <p:nvPr/>
        </p:nvSpPr>
        <p:spPr>
          <a:xfrm>
            <a:off x="1121968" y="5201107"/>
            <a:ext cx="99486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rgbClr val="FFFEFB"/>
                </a:solidFill>
                <a:latin typeface="Fraunces"/>
              </a:rPr>
              <a:t>The LLM </a:t>
            </a:r>
            <a:r>
              <a:rPr i="1" sz="2400">
                <a:solidFill>
                  <a:srgbClr val="E8A33D"/>
                </a:solidFill>
                <a:latin typeface="Fraunces"/>
              </a:rPr>
              <a:t>never edits</a:t>
            </a:r>
            <a:r>
              <a:rPr sz="2400">
                <a:solidFill>
                  <a:srgbClr val="FFFEFB"/>
                </a:solidFill>
                <a:latin typeface="Fraunces"/>
              </a:rPr>
              <a:t>.</a:t>
            </a:r>
          </a:p>
        </p:txBody>
      </p:sp>
      <p:sp>
        <p:nvSpPr>
          <p:cNvPr id="32" name="h2p-text-26"/>
          <p:cNvSpPr txBox="1"/>
          <p:nvPr/>
        </p:nvSpPr>
        <p:spPr>
          <a:xfrm>
            <a:off x="811072" y="6019495"/>
            <a:ext cx="10570464" cy="2596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sz="1580">
                <a:solidFill>
                  <a:srgbClr val="C9BDA6"/>
                </a:solidFill>
                <a:latin typeface="Fraunces"/>
              </a:rPr>
              <a:t>June 5. Forty minutes later, </a:t>
            </a:r>
            <a:r>
              <a:rPr i="1" sz="1580">
                <a:solidFill>
                  <a:srgbClr val="E8A33D"/>
                </a:solidFill>
                <a:latin typeface="Fraunces"/>
              </a:rPr>
              <a:t>deck.py</a:t>
            </a:r>
            <a:r>
              <a:rPr i="1" sz="1580">
                <a:solidFill>
                  <a:srgbClr val="C9BDA6"/>
                </a:solidFill>
                <a:latin typeface="Fraunces"/>
              </a:rPr>
              <a:t> existed.</a:t>
            </a:r>
          </a:p>
        </p:txBody>
      </p:sp>
      <p:sp>
        <p:nvSpPr>
          <p:cNvPr id="33" name="h2p-text-27"/>
          <p:cNvSpPr txBox="1"/>
          <p:nvPr/>
        </p:nvSpPr>
        <p:spPr>
          <a:xfrm>
            <a:off x="609904" y="6667804"/>
            <a:ext cx="2404872" cy="950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buNone/>
              <a:lnSpc>
                <a:spcPts val="680"/>
              </a:lnSpc>
              <a:spcBef>
                <a:spcPts val="0"/>
              </a:spcBef>
              <a:spcAft>
                <a:spcPts val="0"/>
              </a:spcAft>
            </a:pPr>
            <a:r>
              <a:rPr sz="560">
                <a:solidFill>
                  <a:srgbClr val="8A8A84"/>
                </a:solidFill>
                <a:latin typeface="JetBrains Mono"/>
              </a:rPr>
              <a:t>hands-on-deck · slide 08/18 · built by deck.py — 39 ops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0" y="2011680"/>
            <a:ext cx="11430000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430000" y="2011680"/>
            <a:ext cx="457200" cy="1399032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887200" y="3410712"/>
            <a:ext cx="301752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text-2"/>
          <p:cNvSpPr txBox="1"/>
          <p:nvPr/>
        </p:nvSpPr>
        <p:spPr>
          <a:xfrm>
            <a:off x="609904" y="457200"/>
            <a:ext cx="769924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8A8A84"/>
                </a:solidFill>
                <a:latin typeface="JetBrains Mono"/>
              </a:rPr>
              <a:t>THE FRAMING</a:t>
            </a:r>
          </a:p>
        </p:txBody>
      </p:sp>
      <p:sp>
        <p:nvSpPr>
          <p:cNvPr id="4" name="h2p-text-3"/>
          <p:cNvSpPr txBox="1"/>
          <p:nvPr/>
        </p:nvSpPr>
        <p:spPr>
          <a:xfrm>
            <a:off x="914400" y="1067104"/>
            <a:ext cx="10298887" cy="5449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050">
                <a:solidFill>
                  <a:srgbClr val="FFFEFB"/>
                </a:solidFill>
                <a:latin typeface="Fraunces"/>
              </a:rPr>
              <a:t>We built PowerPoint. </a:t>
            </a:r>
            <a:r>
              <a:rPr i="1" sz="4050">
                <a:solidFill>
                  <a:srgbClr val="E8A33D"/>
                </a:solidFill>
                <a:latin typeface="Fraunces"/>
              </a:rPr>
              <a:t>As a CLI.</a:t>
            </a:r>
          </a:p>
        </p:txBody>
      </p:sp>
      <p:sp>
        <p:nvSpPr>
          <p:cNvPr id="5" name="h2p-text-4"/>
          <p:cNvSpPr txBox="1"/>
          <p:nvPr/>
        </p:nvSpPr>
        <p:spPr>
          <a:xfrm>
            <a:off x="842162" y="1923897"/>
            <a:ext cx="3692347" cy="133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8A8A84"/>
                </a:solidFill>
                <a:latin typeface="JetBrains Mono"/>
              </a:rPr>
              <a:t>YOUR GESTURE</a:t>
            </a:r>
          </a:p>
        </p:txBody>
      </p:sp>
      <p:sp>
        <p:nvSpPr>
          <p:cNvPr id="6" name="h2p-text-5"/>
          <p:cNvSpPr txBox="1"/>
          <p:nvPr/>
        </p:nvSpPr>
        <p:spPr>
          <a:xfrm>
            <a:off x="5447995" y="1923897"/>
            <a:ext cx="705002" cy="133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8A8A84"/>
                </a:solidFill>
                <a:latin typeface="JetBrains Mono"/>
              </a:rPr>
              <a:t>ITS GESTURE</a:t>
            </a:r>
          </a:p>
        </p:txBody>
      </p:sp>
      <p:sp>
        <p:nvSpPr>
          <p:cNvPr id="7" name="h2p-text-6"/>
          <p:cNvSpPr txBox="1"/>
          <p:nvPr/>
        </p:nvSpPr>
        <p:spPr>
          <a:xfrm>
            <a:off x="842162" y="2229307"/>
            <a:ext cx="3692347" cy="2395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80">
                <a:solidFill>
                  <a:srgbClr val="FFFEFB"/>
                </a:solidFill>
                <a:latin typeface="Fraunces"/>
              </a:rPr>
              <a:t>click a box and type</a:t>
            </a:r>
          </a:p>
        </p:txBody>
      </p:sp>
      <p:sp>
        <p:nvSpPr>
          <p:cNvPr id="8" name="h2p-text-7"/>
          <p:cNvSpPr txBox="1"/>
          <p:nvPr/>
        </p:nvSpPr>
        <p:spPr>
          <a:xfrm>
            <a:off x="4757623" y="2257653"/>
            <a:ext cx="466344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9" name="h2p-text-8"/>
          <p:cNvSpPr txBox="1"/>
          <p:nvPr/>
        </p:nvSpPr>
        <p:spPr>
          <a:xfrm>
            <a:off x="5447995" y="2266797"/>
            <a:ext cx="5946343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C9BDA6"/>
                </a:solidFill>
                <a:latin typeface="JetBrains Mono"/>
              </a:rPr>
              <a:t>apply {"op":</a:t>
            </a:r>
            <a:r>
              <a:rPr b="1" sz="1120">
                <a:solidFill>
                  <a:srgbClr val="FFFEFB"/>
                </a:solidFill>
                <a:latin typeface="JetBrains Mono"/>
              </a:rPr>
              <a:t>"set-text"</a:t>
            </a:r>
            <a:r>
              <a:rPr sz="1120">
                <a:solidFill>
                  <a:srgbClr val="C9BDA6"/>
                </a:solidFill>
                <a:latin typeface="JetBrains Mono"/>
              </a:rPr>
              <a:t>, …}</a:t>
            </a:r>
          </a:p>
        </p:txBody>
      </p:sp>
      <p:sp>
        <p:nvSpPr>
          <p:cNvPr id="10" name="h2p-box-9"/>
          <p:cNvSpPr/>
          <p:nvPr/>
        </p:nvSpPr>
        <p:spPr>
          <a:xfrm>
            <a:off x="914400" y="2609697"/>
            <a:ext cx="10362895" cy="9144"/>
          </a:xfrm>
          <a:prstGeom prst="rect">
            <a:avLst/>
          </a:prstGeom>
          <a:solidFill>
            <a:srgbClr val="2A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2p-text-10"/>
          <p:cNvSpPr txBox="1"/>
          <p:nvPr/>
        </p:nvSpPr>
        <p:spPr>
          <a:xfrm>
            <a:off x="842162" y="2781604"/>
            <a:ext cx="3692347" cy="2395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80">
                <a:solidFill>
                  <a:srgbClr val="FFFEFB"/>
                </a:solidFill>
                <a:latin typeface="Fraunces"/>
              </a:rPr>
              <a:t>drag a shape</a:t>
            </a:r>
          </a:p>
        </p:txBody>
      </p:sp>
      <p:sp>
        <p:nvSpPr>
          <p:cNvPr id="12" name="h2p-text-11"/>
          <p:cNvSpPr txBox="1"/>
          <p:nvPr/>
        </p:nvSpPr>
        <p:spPr>
          <a:xfrm>
            <a:off x="4757623" y="2809951"/>
            <a:ext cx="466344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13" name="h2p-text-12"/>
          <p:cNvSpPr txBox="1"/>
          <p:nvPr/>
        </p:nvSpPr>
        <p:spPr>
          <a:xfrm>
            <a:off x="5447995" y="2819095"/>
            <a:ext cx="5946343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C9BDA6"/>
                </a:solidFill>
                <a:latin typeface="JetBrains Mono"/>
              </a:rPr>
              <a:t>apply {"op":</a:t>
            </a:r>
            <a:r>
              <a:rPr b="1" sz="1120">
                <a:solidFill>
                  <a:srgbClr val="FFFEFB"/>
                </a:solidFill>
                <a:latin typeface="JetBrains Mono"/>
              </a:rPr>
              <a:t>"move"</a:t>
            </a:r>
            <a:r>
              <a:rPr sz="1120">
                <a:solidFill>
                  <a:srgbClr val="C9BDA6"/>
                </a:solidFill>
                <a:latin typeface="JetBrains Mono"/>
              </a:rPr>
              <a:t>, …}</a:t>
            </a:r>
          </a:p>
        </p:txBody>
      </p:sp>
      <p:sp>
        <p:nvSpPr>
          <p:cNvPr id="14" name="h2p-box-13"/>
          <p:cNvSpPr/>
          <p:nvPr/>
        </p:nvSpPr>
        <p:spPr>
          <a:xfrm>
            <a:off x="914400" y="3161995"/>
            <a:ext cx="10362895" cy="9144"/>
          </a:xfrm>
          <a:prstGeom prst="rect">
            <a:avLst/>
          </a:prstGeom>
          <a:solidFill>
            <a:srgbClr val="2A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2p-text-14"/>
          <p:cNvSpPr txBox="1"/>
          <p:nvPr/>
        </p:nvSpPr>
        <p:spPr>
          <a:xfrm>
            <a:off x="842162" y="3333902"/>
            <a:ext cx="3692347" cy="2395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80">
                <a:solidFill>
                  <a:srgbClr val="FFFEFB"/>
                </a:solidFill>
                <a:latin typeface="Fraunces"/>
              </a:rPr>
              <a:t>bold one word</a:t>
            </a:r>
          </a:p>
        </p:txBody>
      </p:sp>
      <p:sp>
        <p:nvSpPr>
          <p:cNvPr id="16" name="h2p-text-15"/>
          <p:cNvSpPr txBox="1"/>
          <p:nvPr/>
        </p:nvSpPr>
        <p:spPr>
          <a:xfrm>
            <a:off x="4757623" y="3362248"/>
            <a:ext cx="466344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17" name="h2p-text-16"/>
          <p:cNvSpPr txBox="1"/>
          <p:nvPr/>
        </p:nvSpPr>
        <p:spPr>
          <a:xfrm>
            <a:off x="5447995" y="3372307"/>
            <a:ext cx="5946343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FFFEFB"/>
                </a:solidFill>
                <a:latin typeface="JetBrains Mono"/>
              </a:rPr>
              <a:t>set-text</a:t>
            </a:r>
            <a:r>
              <a:rPr sz="1120">
                <a:solidFill>
                  <a:srgbClr val="C9BDA6"/>
                </a:solidFill>
                <a:latin typeface="JetBrains Mono"/>
              </a:rPr>
              <a:t> "runs":[…]</a:t>
            </a:r>
          </a:p>
        </p:txBody>
      </p:sp>
      <p:sp>
        <p:nvSpPr>
          <p:cNvPr id="18" name="h2p-box-17"/>
          <p:cNvSpPr/>
          <p:nvPr/>
        </p:nvSpPr>
        <p:spPr>
          <a:xfrm>
            <a:off x="914400" y="3714292"/>
            <a:ext cx="10362895" cy="9144"/>
          </a:xfrm>
          <a:prstGeom prst="rect">
            <a:avLst/>
          </a:prstGeom>
          <a:solidFill>
            <a:srgbClr val="2A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2p-text-18"/>
          <p:cNvSpPr txBox="1"/>
          <p:nvPr/>
        </p:nvSpPr>
        <p:spPr>
          <a:xfrm>
            <a:off x="842162" y="3886200"/>
            <a:ext cx="3692347" cy="2395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80">
                <a:solidFill>
                  <a:srgbClr val="FFFEFB"/>
                </a:solidFill>
                <a:latin typeface="Fraunces"/>
              </a:rPr>
              <a:t>look at the slide</a:t>
            </a:r>
          </a:p>
        </p:txBody>
      </p:sp>
      <p:sp>
        <p:nvSpPr>
          <p:cNvPr id="20" name="h2p-text-19"/>
          <p:cNvSpPr txBox="1"/>
          <p:nvPr/>
        </p:nvSpPr>
        <p:spPr>
          <a:xfrm>
            <a:off x="4757623" y="3914546"/>
            <a:ext cx="466344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21" name="h2p-text-20"/>
          <p:cNvSpPr txBox="1"/>
          <p:nvPr/>
        </p:nvSpPr>
        <p:spPr>
          <a:xfrm>
            <a:off x="5447995" y="3924604"/>
            <a:ext cx="5946343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FFFEFB"/>
                </a:solidFill>
                <a:latin typeface="JetBrains Mono"/>
              </a:rPr>
              <a:t>render</a:t>
            </a:r>
            <a:r>
              <a:rPr sz="1120">
                <a:solidFill>
                  <a:srgbClr val="C9BDA6"/>
                </a:solidFill>
                <a:latin typeface="JetBrains Mono"/>
              </a:rPr>
              <a:t> --slide 9 --crop</a:t>
            </a:r>
          </a:p>
        </p:txBody>
      </p:sp>
      <p:sp>
        <p:nvSpPr>
          <p:cNvPr id="22" name="h2p-box-21"/>
          <p:cNvSpPr/>
          <p:nvPr/>
        </p:nvSpPr>
        <p:spPr>
          <a:xfrm>
            <a:off x="914400" y="4267504"/>
            <a:ext cx="10362895" cy="9144"/>
          </a:xfrm>
          <a:prstGeom prst="rect">
            <a:avLst/>
          </a:prstGeom>
          <a:solidFill>
            <a:srgbClr val="2A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text-22"/>
          <p:cNvSpPr txBox="1"/>
          <p:nvPr/>
        </p:nvSpPr>
        <p:spPr>
          <a:xfrm>
            <a:off x="842162" y="4438497"/>
            <a:ext cx="3692347" cy="2395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80">
                <a:solidFill>
                  <a:srgbClr val="FFFEFB"/>
                </a:solidFill>
                <a:latin typeface="Fraunces"/>
              </a:rPr>
              <a:t>undo</a:t>
            </a:r>
          </a:p>
        </p:txBody>
      </p:sp>
      <p:sp>
        <p:nvSpPr>
          <p:cNvPr id="24" name="h2p-text-23"/>
          <p:cNvSpPr txBox="1"/>
          <p:nvPr/>
        </p:nvSpPr>
        <p:spPr>
          <a:xfrm>
            <a:off x="4757623" y="4466844"/>
            <a:ext cx="466344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25" name="h2p-text-24"/>
          <p:cNvSpPr txBox="1"/>
          <p:nvPr/>
        </p:nvSpPr>
        <p:spPr>
          <a:xfrm>
            <a:off x="5447995" y="4476902"/>
            <a:ext cx="5946343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C9BDA6"/>
                </a:solidFill>
                <a:latin typeface="JetBrains Mono"/>
              </a:rPr>
              <a:t>patches are atomic; </a:t>
            </a:r>
            <a:r>
              <a:rPr b="1" sz="1120">
                <a:solidFill>
                  <a:srgbClr val="FFFEFB"/>
                </a:solidFill>
                <a:latin typeface="JetBrains Mono"/>
              </a:rPr>
              <a:t>diff</a:t>
            </a:r>
            <a:r>
              <a:rPr sz="1120">
                <a:solidFill>
                  <a:srgbClr val="C9BDA6"/>
                </a:solidFill>
                <a:latin typeface="JetBrains Mono"/>
              </a:rPr>
              <a:t> to verify</a:t>
            </a:r>
          </a:p>
        </p:txBody>
      </p:sp>
      <p:sp>
        <p:nvSpPr>
          <p:cNvPr id="26" name="h2p-box-25"/>
          <p:cNvSpPr/>
          <p:nvPr/>
        </p:nvSpPr>
        <p:spPr>
          <a:xfrm>
            <a:off x="914400" y="4819802"/>
            <a:ext cx="10362895" cy="9144"/>
          </a:xfrm>
          <a:prstGeom prst="rect">
            <a:avLst/>
          </a:prstGeom>
          <a:solidFill>
            <a:srgbClr val="2A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2p-text-26"/>
          <p:cNvSpPr txBox="1"/>
          <p:nvPr/>
        </p:nvSpPr>
        <p:spPr>
          <a:xfrm>
            <a:off x="842162" y="4990795"/>
            <a:ext cx="3692347" cy="2395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80">
                <a:solidFill>
                  <a:srgbClr val="FFFEFB"/>
                </a:solidFill>
                <a:latin typeface="Fraunces"/>
              </a:rPr>
              <a:t>spot something’s off</a:t>
            </a:r>
          </a:p>
        </p:txBody>
      </p:sp>
      <p:sp>
        <p:nvSpPr>
          <p:cNvPr id="28" name="h2p-text-27"/>
          <p:cNvSpPr txBox="1"/>
          <p:nvPr/>
        </p:nvSpPr>
        <p:spPr>
          <a:xfrm>
            <a:off x="4757623" y="5020056"/>
            <a:ext cx="466344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29" name="h2p-text-28"/>
          <p:cNvSpPr txBox="1"/>
          <p:nvPr/>
        </p:nvSpPr>
        <p:spPr>
          <a:xfrm>
            <a:off x="5447995" y="5029200"/>
            <a:ext cx="5946343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FFFEFB"/>
                </a:solidFill>
                <a:latin typeface="JetBrains Mono"/>
              </a:rPr>
              <a:t>inspect</a:t>
            </a:r>
            <a:r>
              <a:rPr sz="1120">
                <a:solidFill>
                  <a:srgbClr val="C9BDA6"/>
                </a:solidFill>
                <a:latin typeface="JetBrains Mono"/>
              </a:rPr>
              <a:t> --issues </a:t>
            </a:r>
            <a:r>
              <a:rPr sz="1120">
                <a:solidFill>
                  <a:srgbClr val="8A8A84"/>
                </a:solidFill>
                <a:latin typeface="JetBrains Mono"/>
              </a:rPr>
              <a:t>(it lints itself)</a:t>
            </a:r>
          </a:p>
        </p:txBody>
      </p:sp>
      <p:sp>
        <p:nvSpPr>
          <p:cNvPr id="30" name="h2p-text-29"/>
          <p:cNvSpPr txBox="1"/>
          <p:nvPr/>
        </p:nvSpPr>
        <p:spPr>
          <a:xfrm>
            <a:off x="813816" y="5532120"/>
            <a:ext cx="10570464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buNone/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E8A33D"/>
                </a:solidFill>
                <a:latin typeface="JetBrains Mono"/>
              </a:rPr>
              <a:t>every gesture you have, it now has.</a:t>
            </a:r>
          </a:p>
        </p:txBody>
      </p:sp>
      <p:sp>
        <p:nvSpPr>
          <p:cNvPr id="31" name="h2p-text-30"/>
          <p:cNvSpPr txBox="1"/>
          <p:nvPr/>
        </p:nvSpPr>
        <p:spPr>
          <a:xfrm>
            <a:off x="811072" y="6019495"/>
            <a:ext cx="10570464" cy="2596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sz="1580">
                <a:solidFill>
                  <a:srgbClr val="C9BDA6"/>
                </a:solidFill>
                <a:latin typeface="Fraunces"/>
              </a:rPr>
              <a:t>Not a converter. Not a script. The </a:t>
            </a:r>
            <a:r>
              <a:rPr i="1" sz="1580">
                <a:solidFill>
                  <a:srgbClr val="E8A33D"/>
                </a:solidFill>
                <a:latin typeface="Fraunces"/>
              </a:rPr>
              <a:t>application</a:t>
            </a:r>
            <a:r>
              <a:rPr i="1" sz="1580">
                <a:solidFill>
                  <a:srgbClr val="C9BDA6"/>
                </a:solidFill>
                <a:latin typeface="Fraunces"/>
              </a:rPr>
              <a:t> itself.</a:t>
            </a:r>
          </a:p>
        </p:txBody>
      </p:sp>
      <p:sp>
        <p:nvSpPr>
          <p:cNvPr id="32" name="h2p-text-31"/>
          <p:cNvSpPr txBox="1"/>
          <p:nvPr/>
        </p:nvSpPr>
        <p:spPr>
          <a:xfrm>
            <a:off x="609904" y="6667804"/>
            <a:ext cx="2404872" cy="950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buNone/>
              <a:lnSpc>
                <a:spcPts val="680"/>
              </a:lnSpc>
              <a:spcBef>
                <a:spcPts val="0"/>
              </a:spcBef>
              <a:spcAft>
                <a:spcPts val="0"/>
              </a:spcAft>
            </a:pPr>
            <a:r>
              <a:rPr sz="560">
                <a:solidFill>
                  <a:srgbClr val="8A8A84"/>
                </a:solidFill>
                <a:latin typeface="JetBrains Mono"/>
              </a:rPr>
              <a:t>hands-on-deck · slide 09/18 · built by deck.py — 41 ops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0" y="3410712"/>
            <a:ext cx="274320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74320" y="3410712"/>
            <a:ext cx="502920" cy="2944368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7240" y="6355080"/>
            <a:ext cx="11411712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text-2"/>
          <p:cNvSpPr txBox="1"/>
          <p:nvPr/>
        </p:nvSpPr>
        <p:spPr>
          <a:xfrm>
            <a:off x="609904" y="457200"/>
            <a:ext cx="490118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8A8A84"/>
                </a:solidFill>
                <a:latin typeface="JetBrains Mono"/>
              </a:rPr>
              <a:t>THE MAP</a:t>
            </a:r>
          </a:p>
        </p:txBody>
      </p:sp>
      <p:sp>
        <p:nvSpPr>
          <p:cNvPr id="4" name="h2p-text-3"/>
          <p:cNvSpPr txBox="1"/>
          <p:nvPr/>
        </p:nvSpPr>
        <p:spPr>
          <a:xfrm>
            <a:off x="914400" y="952804"/>
            <a:ext cx="10492740" cy="5449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050">
                <a:solidFill>
                  <a:srgbClr val="FFFEFB"/>
                </a:solidFill>
                <a:latin typeface="Fraunces"/>
              </a:rPr>
              <a:t>The whole application, on </a:t>
            </a:r>
            <a:r>
              <a:rPr i="1" sz="4050">
                <a:solidFill>
                  <a:srgbClr val="E8A33D"/>
                </a:solidFill>
                <a:latin typeface="Fraunces"/>
              </a:rPr>
              <a:t>one slide.</a:t>
            </a:r>
          </a:p>
        </p:txBody>
      </p:sp>
      <p:sp>
        <p:nvSpPr>
          <p:cNvPr id="5" name="h2p-text-4"/>
          <p:cNvSpPr txBox="1"/>
          <p:nvPr/>
        </p:nvSpPr>
        <p:spPr>
          <a:xfrm>
            <a:off x="914400" y="1809597"/>
            <a:ext cx="1602943" cy="133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8A8A84"/>
                </a:solidFill>
                <a:latin typeface="JetBrains Mono"/>
              </a:rPr>
              <a:t>WHAT YOU DO IN POWERPOINT</a:t>
            </a:r>
          </a:p>
        </p:txBody>
      </p:sp>
      <p:sp>
        <p:nvSpPr>
          <p:cNvPr id="6" name="h2p-text-5"/>
          <p:cNvSpPr txBox="1"/>
          <p:nvPr/>
        </p:nvSpPr>
        <p:spPr>
          <a:xfrm>
            <a:off x="4304995" y="1809597"/>
            <a:ext cx="705002" cy="133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8A8A84"/>
                </a:solidFill>
                <a:latin typeface="JetBrains Mono"/>
              </a:rPr>
              <a:t>THE COMMAND</a:t>
            </a:r>
          </a:p>
        </p:txBody>
      </p:sp>
      <p:sp>
        <p:nvSpPr>
          <p:cNvPr id="7" name="h2p-text-6"/>
          <p:cNvSpPr txBox="1"/>
          <p:nvPr/>
        </p:nvSpPr>
        <p:spPr>
          <a:xfrm>
            <a:off x="9140342" y="1809597"/>
            <a:ext cx="2136952" cy="133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8A8A84"/>
                </a:solidFill>
                <a:latin typeface="JetBrains Mono"/>
              </a:rPr>
              <a:t>WHAT IT COSTS</a:t>
            </a:r>
          </a:p>
        </p:txBody>
      </p:sp>
      <p:sp>
        <p:nvSpPr>
          <p:cNvPr id="8" name="h2p-box-7"/>
          <p:cNvSpPr/>
          <p:nvPr/>
        </p:nvSpPr>
        <p:spPr>
          <a:xfrm>
            <a:off x="914400" y="2000707"/>
            <a:ext cx="10362895" cy="9144"/>
          </a:xfrm>
          <a:prstGeom prst="rect">
            <a:avLst/>
          </a:prstGeom>
          <a:solidFill>
            <a:srgbClr val="2A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2p-text-8"/>
          <p:cNvSpPr txBox="1"/>
          <p:nvPr/>
        </p:nvSpPr>
        <p:spPr>
          <a:xfrm>
            <a:off x="914400" y="2114092"/>
            <a:ext cx="2915107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type in a box</a:t>
            </a:r>
          </a:p>
        </p:txBody>
      </p:sp>
      <p:sp>
        <p:nvSpPr>
          <p:cNvPr id="10" name="h2p-text-9"/>
          <p:cNvSpPr txBox="1"/>
          <p:nvPr/>
        </p:nvSpPr>
        <p:spPr>
          <a:xfrm>
            <a:off x="3806647" y="2114092"/>
            <a:ext cx="388620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11" name="h2p-text-10"/>
          <p:cNvSpPr txBox="1"/>
          <p:nvPr/>
        </p:nvSpPr>
        <p:spPr>
          <a:xfrm>
            <a:off x="4304995" y="2114092"/>
            <a:ext cx="4857292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EFB"/>
                </a:solidFill>
                <a:latin typeface="JetBrains Mono"/>
              </a:rPr>
              <a:t>set-text</a:t>
            </a:r>
          </a:p>
        </p:txBody>
      </p:sp>
      <p:sp>
        <p:nvSpPr>
          <p:cNvPr id="12" name="h2p-text-11"/>
          <p:cNvSpPr txBox="1"/>
          <p:nvPr/>
        </p:nvSpPr>
        <p:spPr>
          <a:xfrm>
            <a:off x="9140342" y="2124151"/>
            <a:ext cx="2136952" cy="1609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8A8A84"/>
                </a:solidFill>
                <a:latin typeface="JetBrains Mono"/>
              </a:rPr>
              <a:t>~40 tokens</a:t>
            </a:r>
          </a:p>
        </p:txBody>
      </p:sp>
      <p:sp>
        <p:nvSpPr>
          <p:cNvPr id="13" name="h2p-box-12"/>
          <p:cNvSpPr/>
          <p:nvPr/>
        </p:nvSpPr>
        <p:spPr>
          <a:xfrm>
            <a:off x="914400" y="2361895"/>
            <a:ext cx="10362895" cy="9144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text-13"/>
          <p:cNvSpPr txBox="1"/>
          <p:nvPr/>
        </p:nvSpPr>
        <p:spPr>
          <a:xfrm>
            <a:off x="914400" y="2438704"/>
            <a:ext cx="2915107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bold one word mid-sentence</a:t>
            </a:r>
          </a:p>
        </p:txBody>
      </p:sp>
      <p:sp>
        <p:nvSpPr>
          <p:cNvPr id="15" name="h2p-text-14"/>
          <p:cNvSpPr txBox="1"/>
          <p:nvPr/>
        </p:nvSpPr>
        <p:spPr>
          <a:xfrm>
            <a:off x="3806647" y="2438704"/>
            <a:ext cx="388620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16" name="h2p-text-15"/>
          <p:cNvSpPr txBox="1"/>
          <p:nvPr/>
        </p:nvSpPr>
        <p:spPr>
          <a:xfrm>
            <a:off x="4304995" y="2438704"/>
            <a:ext cx="4857292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EFB"/>
                </a:solidFill>
                <a:latin typeface="JetBrains Mono"/>
              </a:rPr>
              <a:t>set-text </a:t>
            </a:r>
            <a:r>
              <a:rPr sz="1050">
                <a:solidFill>
                  <a:srgbClr val="C9BDA6"/>
                </a:solidFill>
                <a:latin typeface="JetBrains Mono"/>
              </a:rPr>
              <a:t>runs:[…]</a:t>
            </a:r>
          </a:p>
        </p:txBody>
      </p:sp>
      <p:sp>
        <p:nvSpPr>
          <p:cNvPr id="17" name="h2p-text-16"/>
          <p:cNvSpPr txBox="1"/>
          <p:nvPr/>
        </p:nvSpPr>
        <p:spPr>
          <a:xfrm>
            <a:off x="9140342" y="2447848"/>
            <a:ext cx="2136952" cy="1609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8A8A84"/>
                </a:solidFill>
                <a:latin typeface="JetBrains Mono"/>
              </a:rPr>
              <a:t>~60 tokens</a:t>
            </a:r>
          </a:p>
        </p:txBody>
      </p:sp>
      <p:sp>
        <p:nvSpPr>
          <p:cNvPr id="18" name="h2p-box-17"/>
          <p:cNvSpPr/>
          <p:nvPr/>
        </p:nvSpPr>
        <p:spPr>
          <a:xfrm>
            <a:off x="914400" y="2686507"/>
            <a:ext cx="10362895" cy="9144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2p-text-18"/>
          <p:cNvSpPr txBox="1"/>
          <p:nvPr/>
        </p:nvSpPr>
        <p:spPr>
          <a:xfrm>
            <a:off x="914400" y="2762402"/>
            <a:ext cx="2915107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insert text / image / table</a:t>
            </a:r>
          </a:p>
        </p:txBody>
      </p:sp>
      <p:sp>
        <p:nvSpPr>
          <p:cNvPr id="20" name="h2p-text-19"/>
          <p:cNvSpPr txBox="1"/>
          <p:nvPr/>
        </p:nvSpPr>
        <p:spPr>
          <a:xfrm>
            <a:off x="3806647" y="2762402"/>
            <a:ext cx="388620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21" name="h2p-text-20"/>
          <p:cNvSpPr txBox="1"/>
          <p:nvPr/>
        </p:nvSpPr>
        <p:spPr>
          <a:xfrm>
            <a:off x="4304995" y="2762402"/>
            <a:ext cx="4857292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EFB"/>
                </a:solidFill>
                <a:latin typeface="JetBrains Mono"/>
              </a:rPr>
              <a:t>add-shape </a:t>
            </a:r>
            <a:r>
              <a:rPr sz="1050">
                <a:solidFill>
                  <a:srgbClr val="C9BDA6"/>
                </a:solidFill>
                <a:latin typeface="JetBrains Mono"/>
              </a:rPr>
              <a:t>·</a:t>
            </a:r>
            <a:r>
              <a:rPr b="1" sz="1050">
                <a:solidFill>
                  <a:srgbClr val="FFFEFB"/>
                </a:solidFill>
                <a:latin typeface="JetBrains Mono"/>
              </a:rPr>
              <a:t> add-picture </a:t>
            </a:r>
            <a:r>
              <a:rPr sz="1050">
                <a:solidFill>
                  <a:srgbClr val="C9BDA6"/>
                </a:solidFill>
                <a:latin typeface="JetBrains Mono"/>
              </a:rPr>
              <a:t>·</a:t>
            </a:r>
            <a:r>
              <a:rPr b="1" sz="1050">
                <a:solidFill>
                  <a:srgbClr val="FFFEFB"/>
                </a:solidFill>
                <a:latin typeface="JetBrains Mono"/>
              </a:rPr>
              <a:t> add-table</a:t>
            </a:r>
          </a:p>
        </p:txBody>
      </p:sp>
      <p:sp>
        <p:nvSpPr>
          <p:cNvPr id="22" name="h2p-text-21"/>
          <p:cNvSpPr txBox="1"/>
          <p:nvPr/>
        </p:nvSpPr>
        <p:spPr>
          <a:xfrm>
            <a:off x="9140342" y="2771546"/>
            <a:ext cx="2136952" cy="1609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8A8A84"/>
                </a:solidFill>
                <a:latin typeface="JetBrains Mono"/>
              </a:rPr>
              <a:t>one op each</a:t>
            </a:r>
          </a:p>
        </p:txBody>
      </p:sp>
      <p:sp>
        <p:nvSpPr>
          <p:cNvPr id="23" name="h2p-box-22"/>
          <p:cNvSpPr/>
          <p:nvPr/>
        </p:nvSpPr>
        <p:spPr>
          <a:xfrm>
            <a:off x="914400" y="3010204"/>
            <a:ext cx="10362895" cy="9144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2p-text-23"/>
          <p:cNvSpPr txBox="1"/>
          <p:nvPr/>
        </p:nvSpPr>
        <p:spPr>
          <a:xfrm>
            <a:off x="914400" y="3086100"/>
            <a:ext cx="2915107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drag, resize, align</a:t>
            </a:r>
          </a:p>
        </p:txBody>
      </p:sp>
      <p:sp>
        <p:nvSpPr>
          <p:cNvPr id="25" name="h2p-text-24"/>
          <p:cNvSpPr txBox="1"/>
          <p:nvPr/>
        </p:nvSpPr>
        <p:spPr>
          <a:xfrm>
            <a:off x="3806647" y="3086100"/>
            <a:ext cx="388620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26" name="h2p-text-25"/>
          <p:cNvSpPr txBox="1"/>
          <p:nvPr/>
        </p:nvSpPr>
        <p:spPr>
          <a:xfrm>
            <a:off x="4304995" y="3086100"/>
            <a:ext cx="4857292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EFB"/>
                </a:solidFill>
                <a:latin typeface="JetBrains Mono"/>
              </a:rPr>
              <a:t>move </a:t>
            </a:r>
            <a:r>
              <a:rPr sz="1050">
                <a:solidFill>
                  <a:srgbClr val="C9BDA6"/>
                </a:solidFill>
                <a:latin typeface="JetBrains Mono"/>
              </a:rPr>
              <a:t>·</a:t>
            </a:r>
            <a:r>
              <a:rPr b="1" sz="1050">
                <a:solidFill>
                  <a:srgbClr val="FFFEFB"/>
                </a:solidFill>
                <a:latin typeface="JetBrains Mono"/>
              </a:rPr>
              <a:t> resize</a:t>
            </a:r>
          </a:p>
        </p:txBody>
      </p:sp>
      <p:sp>
        <p:nvSpPr>
          <p:cNvPr id="27" name="h2p-text-26"/>
          <p:cNvSpPr txBox="1"/>
          <p:nvPr/>
        </p:nvSpPr>
        <p:spPr>
          <a:xfrm>
            <a:off x="9140342" y="3095244"/>
            <a:ext cx="2136952" cy="1609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8A8A84"/>
                </a:solidFill>
                <a:latin typeface="JetBrains Mono"/>
              </a:rPr>
              <a:t>one op each</a:t>
            </a:r>
          </a:p>
        </p:txBody>
      </p:sp>
      <p:sp>
        <p:nvSpPr>
          <p:cNvPr id="28" name="h2p-box-27"/>
          <p:cNvSpPr/>
          <p:nvPr/>
        </p:nvSpPr>
        <p:spPr>
          <a:xfrm>
            <a:off x="914400" y="3333902"/>
            <a:ext cx="10362895" cy="9144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2p-text-28"/>
          <p:cNvSpPr txBox="1"/>
          <p:nvPr/>
        </p:nvSpPr>
        <p:spPr>
          <a:xfrm>
            <a:off x="914400" y="3409797"/>
            <a:ext cx="2915107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swap the logo deck-wide</a:t>
            </a:r>
          </a:p>
        </p:txBody>
      </p:sp>
      <p:sp>
        <p:nvSpPr>
          <p:cNvPr id="30" name="h2p-text-29"/>
          <p:cNvSpPr txBox="1"/>
          <p:nvPr/>
        </p:nvSpPr>
        <p:spPr>
          <a:xfrm>
            <a:off x="3806647" y="3409797"/>
            <a:ext cx="388620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31" name="h2p-text-30"/>
          <p:cNvSpPr txBox="1"/>
          <p:nvPr/>
        </p:nvSpPr>
        <p:spPr>
          <a:xfrm>
            <a:off x="4304995" y="3409797"/>
            <a:ext cx="4857292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EFB"/>
                </a:solidFill>
                <a:latin typeface="JetBrains Mono"/>
              </a:rPr>
              <a:t>swap-image </a:t>
            </a:r>
            <a:r>
              <a:rPr sz="1050">
                <a:solidFill>
                  <a:srgbClr val="C9BDA6"/>
                </a:solidFill>
                <a:latin typeface="JetBrains Mono"/>
              </a:rPr>
              <a:t>media:"logo.png"</a:t>
            </a:r>
          </a:p>
        </p:txBody>
      </p:sp>
      <p:sp>
        <p:nvSpPr>
          <p:cNvPr id="32" name="h2p-text-31"/>
          <p:cNvSpPr txBox="1"/>
          <p:nvPr/>
        </p:nvSpPr>
        <p:spPr>
          <a:xfrm>
            <a:off x="9140342" y="3419856"/>
            <a:ext cx="2136952" cy="1609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8A8A84"/>
                </a:solidFill>
                <a:latin typeface="JetBrains Mono"/>
              </a:rPr>
              <a:t>1 op, every slide</a:t>
            </a:r>
          </a:p>
        </p:txBody>
      </p:sp>
      <p:sp>
        <p:nvSpPr>
          <p:cNvPr id="33" name="h2p-box-32"/>
          <p:cNvSpPr/>
          <p:nvPr/>
        </p:nvSpPr>
        <p:spPr>
          <a:xfrm>
            <a:off x="914400" y="3657600"/>
            <a:ext cx="10362895" cy="9144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2p-text-33"/>
          <p:cNvSpPr txBox="1"/>
          <p:nvPr/>
        </p:nvSpPr>
        <p:spPr>
          <a:xfrm>
            <a:off x="914400" y="3733495"/>
            <a:ext cx="2915107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FFFEFB"/>
                </a:solidFill>
                <a:latin typeface="JetBrains Mono"/>
              </a:rPr>
              <a:t>rebrand a 95-slide deck</a:t>
            </a:r>
          </a:p>
        </p:txBody>
      </p:sp>
      <p:sp>
        <p:nvSpPr>
          <p:cNvPr id="35" name="h2p-text-34"/>
          <p:cNvSpPr txBox="1"/>
          <p:nvPr/>
        </p:nvSpPr>
        <p:spPr>
          <a:xfrm>
            <a:off x="3806647" y="3733495"/>
            <a:ext cx="388620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36" name="h2p-text-35"/>
          <p:cNvSpPr txBox="1"/>
          <p:nvPr/>
        </p:nvSpPr>
        <p:spPr>
          <a:xfrm>
            <a:off x="4304995" y="3733495"/>
            <a:ext cx="4857292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EFB"/>
                </a:solidFill>
                <a:latin typeface="JetBrains Mono"/>
              </a:rPr>
              <a:t>replace-text </a:t>
            </a:r>
            <a:r>
              <a:rPr sz="1050">
                <a:solidFill>
                  <a:srgbClr val="C9BDA6"/>
                </a:solidFill>
                <a:latin typeface="JetBrains Mono"/>
              </a:rPr>
              <a:t>scope:"master"</a:t>
            </a:r>
          </a:p>
        </p:txBody>
      </p:sp>
      <p:sp>
        <p:nvSpPr>
          <p:cNvPr id="37" name="h2p-text-36"/>
          <p:cNvSpPr txBox="1"/>
          <p:nvPr/>
        </p:nvSpPr>
        <p:spPr>
          <a:xfrm>
            <a:off x="9140342" y="3743553"/>
            <a:ext cx="2136952" cy="1609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E8A33D"/>
                </a:solidFill>
                <a:latin typeface="JetBrains Mono"/>
              </a:rPr>
              <a:t>2 ops, total</a:t>
            </a:r>
          </a:p>
        </p:txBody>
      </p:sp>
      <p:sp>
        <p:nvSpPr>
          <p:cNvPr id="38" name="h2p-box-37"/>
          <p:cNvSpPr/>
          <p:nvPr/>
        </p:nvSpPr>
        <p:spPr>
          <a:xfrm>
            <a:off x="914400" y="3981297"/>
            <a:ext cx="10362895" cy="9144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h2p-text-38"/>
          <p:cNvSpPr txBox="1"/>
          <p:nvPr/>
        </p:nvSpPr>
        <p:spPr>
          <a:xfrm>
            <a:off x="914400" y="4058107"/>
            <a:ext cx="2915107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re-theme the whole palette</a:t>
            </a:r>
          </a:p>
        </p:txBody>
      </p:sp>
      <p:sp>
        <p:nvSpPr>
          <p:cNvPr id="40" name="h2p-text-39"/>
          <p:cNvSpPr txBox="1"/>
          <p:nvPr/>
        </p:nvSpPr>
        <p:spPr>
          <a:xfrm>
            <a:off x="3806647" y="4058107"/>
            <a:ext cx="388620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41" name="h2p-text-40"/>
          <p:cNvSpPr txBox="1"/>
          <p:nvPr/>
        </p:nvSpPr>
        <p:spPr>
          <a:xfrm>
            <a:off x="4304995" y="4058107"/>
            <a:ext cx="4857292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EFB"/>
                </a:solidFill>
                <a:latin typeface="JetBrains Mono"/>
              </a:rPr>
              <a:t>replace-color </a:t>
            </a:r>
            <a:r>
              <a:rPr sz="1050">
                <a:solidFill>
                  <a:srgbClr val="C9BDA6"/>
                </a:solidFill>
                <a:latin typeface="JetBrains Mono"/>
              </a:rPr>
              <a:t>per mapping</a:t>
            </a:r>
          </a:p>
        </p:txBody>
      </p:sp>
      <p:sp>
        <p:nvSpPr>
          <p:cNvPr id="42" name="h2p-text-41"/>
          <p:cNvSpPr txBox="1"/>
          <p:nvPr/>
        </p:nvSpPr>
        <p:spPr>
          <a:xfrm>
            <a:off x="9140342" y="4067251"/>
            <a:ext cx="2136952" cy="1609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8A8A84"/>
                </a:solidFill>
                <a:latin typeface="JetBrains Mono"/>
              </a:rPr>
              <a:t>1 op per color</a:t>
            </a:r>
          </a:p>
        </p:txBody>
      </p:sp>
      <p:sp>
        <p:nvSpPr>
          <p:cNvPr id="43" name="h2p-box-42"/>
          <p:cNvSpPr/>
          <p:nvPr/>
        </p:nvSpPr>
        <p:spPr>
          <a:xfrm>
            <a:off x="914400" y="4304995"/>
            <a:ext cx="10362895" cy="9144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h2p-text-43"/>
          <p:cNvSpPr txBox="1"/>
          <p:nvPr/>
        </p:nvSpPr>
        <p:spPr>
          <a:xfrm>
            <a:off x="914400" y="4381804"/>
            <a:ext cx="2915107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proof-read the geometry</a:t>
            </a:r>
          </a:p>
        </p:txBody>
      </p:sp>
      <p:sp>
        <p:nvSpPr>
          <p:cNvPr id="45" name="h2p-text-44"/>
          <p:cNvSpPr txBox="1"/>
          <p:nvPr/>
        </p:nvSpPr>
        <p:spPr>
          <a:xfrm>
            <a:off x="3806647" y="4381804"/>
            <a:ext cx="388620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46" name="h2p-text-45"/>
          <p:cNvSpPr txBox="1"/>
          <p:nvPr/>
        </p:nvSpPr>
        <p:spPr>
          <a:xfrm>
            <a:off x="4304995" y="4381804"/>
            <a:ext cx="4857292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EFB"/>
                </a:solidFill>
                <a:latin typeface="JetBrains Mono"/>
              </a:rPr>
              <a:t>inspect --issues </a:t>
            </a:r>
            <a:r>
              <a:rPr sz="1050">
                <a:solidFill>
                  <a:srgbClr val="C9BDA6"/>
                </a:solidFill>
                <a:latin typeface="JetBrains Mono"/>
              </a:rPr>
              <a:t>(the linter)</a:t>
            </a:r>
          </a:p>
        </p:txBody>
      </p:sp>
      <p:sp>
        <p:nvSpPr>
          <p:cNvPr id="47" name="h2p-text-46"/>
          <p:cNvSpPr txBox="1"/>
          <p:nvPr/>
        </p:nvSpPr>
        <p:spPr>
          <a:xfrm>
            <a:off x="9140342" y="4390948"/>
            <a:ext cx="2136952" cy="1609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8A8A84"/>
                </a:solidFill>
                <a:latin typeface="JetBrains Mono"/>
              </a:rPr>
              <a:t>deterministic</a:t>
            </a:r>
          </a:p>
        </p:txBody>
      </p:sp>
      <p:sp>
        <p:nvSpPr>
          <p:cNvPr id="48" name="h2p-box-47"/>
          <p:cNvSpPr/>
          <p:nvPr/>
        </p:nvSpPr>
        <p:spPr>
          <a:xfrm>
            <a:off x="914400" y="4628692"/>
            <a:ext cx="10362895" cy="9144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h2p-text-48"/>
          <p:cNvSpPr txBox="1"/>
          <p:nvPr/>
        </p:nvSpPr>
        <p:spPr>
          <a:xfrm>
            <a:off x="914400" y="4705502"/>
            <a:ext cx="2915107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FFFEFB"/>
                </a:solidFill>
                <a:latin typeface="JetBrains Mono"/>
              </a:rPr>
              <a:t>fix what’s off</a:t>
            </a:r>
          </a:p>
        </p:txBody>
      </p:sp>
      <p:sp>
        <p:nvSpPr>
          <p:cNvPr id="50" name="h2p-text-49"/>
          <p:cNvSpPr txBox="1"/>
          <p:nvPr/>
        </p:nvSpPr>
        <p:spPr>
          <a:xfrm>
            <a:off x="3806647" y="4705502"/>
            <a:ext cx="388620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51" name="h2p-text-50"/>
          <p:cNvSpPr txBox="1"/>
          <p:nvPr/>
        </p:nvSpPr>
        <p:spPr>
          <a:xfrm>
            <a:off x="4304995" y="4705502"/>
            <a:ext cx="4857292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EFB"/>
                </a:solidFill>
                <a:latin typeface="JetBrains Mono"/>
              </a:rPr>
              <a:t>fix </a:t>
            </a:r>
            <a:r>
              <a:rPr sz="1050">
                <a:solidFill>
                  <a:srgbClr val="C9BDA6"/>
                </a:solidFill>
                <a:latin typeface="JetBrains Mono"/>
              </a:rPr>
              <a:t>— re-measures, demotes lies</a:t>
            </a:r>
          </a:p>
        </p:txBody>
      </p:sp>
      <p:sp>
        <p:nvSpPr>
          <p:cNvPr id="52" name="h2p-text-51"/>
          <p:cNvSpPr txBox="1"/>
          <p:nvPr/>
        </p:nvSpPr>
        <p:spPr>
          <a:xfrm>
            <a:off x="9140342" y="4714646"/>
            <a:ext cx="2136952" cy="1609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E8A33D"/>
                </a:solidFill>
                <a:latin typeface="JetBrains Mono"/>
              </a:rPr>
              <a:t>0 LLM tokens</a:t>
            </a:r>
          </a:p>
        </p:txBody>
      </p:sp>
      <p:sp>
        <p:nvSpPr>
          <p:cNvPr id="53" name="h2p-box-52"/>
          <p:cNvSpPr/>
          <p:nvPr/>
        </p:nvSpPr>
        <p:spPr>
          <a:xfrm>
            <a:off x="914400" y="4953304"/>
            <a:ext cx="10362895" cy="9144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h2p-text-53"/>
          <p:cNvSpPr txBox="1"/>
          <p:nvPr/>
        </p:nvSpPr>
        <p:spPr>
          <a:xfrm>
            <a:off x="914400" y="5029200"/>
            <a:ext cx="2915107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look at your work</a:t>
            </a:r>
          </a:p>
        </p:txBody>
      </p:sp>
      <p:sp>
        <p:nvSpPr>
          <p:cNvPr id="55" name="h2p-text-54"/>
          <p:cNvSpPr txBox="1"/>
          <p:nvPr/>
        </p:nvSpPr>
        <p:spPr>
          <a:xfrm>
            <a:off x="3806647" y="5029200"/>
            <a:ext cx="388620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56" name="h2p-text-55"/>
          <p:cNvSpPr txBox="1"/>
          <p:nvPr/>
        </p:nvSpPr>
        <p:spPr>
          <a:xfrm>
            <a:off x="4304995" y="5029200"/>
            <a:ext cx="4857292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FFEFB"/>
                </a:solidFill>
                <a:latin typeface="JetBrains Mono"/>
              </a:rPr>
              <a:t>render </a:t>
            </a:r>
            <a:r>
              <a:rPr sz="1050">
                <a:solidFill>
                  <a:srgbClr val="C9BDA6"/>
                </a:solidFill>
                <a:latin typeface="JetBrains Mono"/>
              </a:rPr>
              <a:t>--slide N --crop</a:t>
            </a:r>
          </a:p>
        </p:txBody>
      </p:sp>
      <p:sp>
        <p:nvSpPr>
          <p:cNvPr id="57" name="h2p-text-56"/>
          <p:cNvSpPr txBox="1"/>
          <p:nvPr/>
        </p:nvSpPr>
        <p:spPr>
          <a:xfrm>
            <a:off x="9140342" y="5038344"/>
            <a:ext cx="2136952" cy="1609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8A8A84"/>
                </a:solidFill>
                <a:latin typeface="JetBrains Mono"/>
              </a:rPr>
              <a:t>looks, never reads</a:t>
            </a:r>
          </a:p>
        </p:txBody>
      </p:sp>
      <p:sp>
        <p:nvSpPr>
          <p:cNvPr id="58" name="h2p-box-57"/>
          <p:cNvSpPr/>
          <p:nvPr/>
        </p:nvSpPr>
        <p:spPr>
          <a:xfrm>
            <a:off x="914400" y="5391302"/>
            <a:ext cx="10362895" cy="476402"/>
          </a:xfrm>
          <a:prstGeom prst="roundRect">
            <a:avLst>
              <a:gd name="adj" fmla="val 800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h2p-text-58"/>
          <p:cNvSpPr txBox="1"/>
          <p:nvPr/>
        </p:nvSpPr>
        <p:spPr>
          <a:xfrm>
            <a:off x="1143000" y="5467197"/>
            <a:ext cx="5440680" cy="3346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8A8A84"/>
                </a:solidFill>
                <a:latin typeface="JetBrains Mono"/>
              </a:rPr>
              <a:t>the old way to fix one misaligned title: ~50 blind turns through 2,000 lines of XML ≈ millions of tokens</a:t>
            </a:r>
          </a:p>
        </p:txBody>
      </p:sp>
      <p:sp>
        <p:nvSpPr>
          <p:cNvPr id="60" name="h2p-text-59"/>
          <p:cNvSpPr txBox="1"/>
          <p:nvPr/>
        </p:nvSpPr>
        <p:spPr>
          <a:xfrm>
            <a:off x="7551115" y="5543092"/>
            <a:ext cx="3497580" cy="161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E8A33D"/>
                </a:solidFill>
                <a:latin typeface="JetBrains Mono"/>
              </a:rPr>
              <a:t>the new way: one 40-token op.</a:t>
            </a:r>
          </a:p>
        </p:txBody>
      </p:sp>
      <p:sp>
        <p:nvSpPr>
          <p:cNvPr id="61" name="h2p-text-60"/>
          <p:cNvSpPr txBox="1"/>
          <p:nvPr/>
        </p:nvSpPr>
        <p:spPr>
          <a:xfrm>
            <a:off x="811072" y="6019495"/>
            <a:ext cx="10570464" cy="2596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sz="1580">
                <a:solidFill>
                  <a:srgbClr val="C9BDA6"/>
                </a:solidFill>
                <a:latin typeface="Fraunces"/>
              </a:rPr>
              <a:t>The ribbon, rebuilt as a </a:t>
            </a:r>
            <a:r>
              <a:rPr i="1" sz="1580">
                <a:solidFill>
                  <a:srgbClr val="E8A33D"/>
                </a:solidFill>
                <a:latin typeface="Fraunces"/>
              </a:rPr>
              <a:t>vocabulary</a:t>
            </a:r>
            <a:r>
              <a:rPr i="1" sz="1580">
                <a:solidFill>
                  <a:srgbClr val="C9BDA6"/>
                </a:solidFill>
                <a:latin typeface="Fraunces"/>
              </a:rPr>
              <a:t>.</a:t>
            </a:r>
          </a:p>
        </p:txBody>
      </p:sp>
      <p:sp>
        <p:nvSpPr>
          <p:cNvPr id="62" name="h2p-text-61"/>
          <p:cNvSpPr txBox="1"/>
          <p:nvPr/>
        </p:nvSpPr>
        <p:spPr>
          <a:xfrm>
            <a:off x="609904" y="6667804"/>
            <a:ext cx="2404872" cy="950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buNone/>
              <a:lnSpc>
                <a:spcPts val="680"/>
              </a:lnSpc>
              <a:spcBef>
                <a:spcPts val="0"/>
              </a:spcBef>
              <a:spcAft>
                <a:spcPts val="0"/>
              </a:spcAft>
            </a:pPr>
            <a:r>
              <a:rPr sz="560">
                <a:solidFill>
                  <a:srgbClr val="8A8A84"/>
                </a:solidFill>
                <a:latin typeface="JetBrains Mono"/>
              </a:rPr>
              <a:t>hands-on-deck · slide 10/18 · built by deck.py — 68 ops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0" y="6355080"/>
            <a:ext cx="11521440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1521440" y="5669280"/>
            <a:ext cx="365760" cy="68580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1887200" y="5669280"/>
            <a:ext cx="301752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text-2"/>
          <p:cNvSpPr txBox="1"/>
          <p:nvPr/>
        </p:nvSpPr>
        <p:spPr>
          <a:xfrm>
            <a:off x="609904" y="457200"/>
            <a:ext cx="630021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8A8A84"/>
                </a:solidFill>
                <a:latin typeface="JetBrains Mono"/>
              </a:rPr>
              <a:t>THE TWIST</a:t>
            </a:r>
          </a:p>
        </p:txBody>
      </p:sp>
      <p:sp>
        <p:nvSpPr>
          <p:cNvPr id="4" name="h2p-text-3"/>
          <p:cNvSpPr txBox="1"/>
          <p:nvPr/>
        </p:nvSpPr>
        <p:spPr>
          <a:xfrm>
            <a:off x="914400" y="1067104"/>
            <a:ext cx="9715500" cy="5449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050">
                <a:solidFill>
                  <a:srgbClr val="FFFEFB"/>
                </a:solidFill>
                <a:latin typeface="Fraunces"/>
              </a:rPr>
              <a:t>Cheaper edits </a:t>
            </a:r>
            <a:r>
              <a:rPr i="1" sz="4050">
                <a:solidFill>
                  <a:srgbClr val="E8A33D"/>
                </a:solidFill>
                <a:latin typeface="Fraunces"/>
              </a:rPr>
              <a:t>didn’t</a:t>
            </a:r>
            <a:r>
              <a:rPr b="1" sz="4050">
                <a:solidFill>
                  <a:srgbClr val="FFFEFB"/>
                </a:solidFill>
                <a:latin typeface="Fraunces"/>
              </a:rPr>
              <a:t> save money.</a:t>
            </a:r>
          </a:p>
        </p:txBody>
      </p:sp>
      <p:sp>
        <p:nvSpPr>
          <p:cNvPr id="5" name="h2p-text-4"/>
          <p:cNvSpPr txBox="1"/>
          <p:nvPr/>
        </p:nvSpPr>
        <p:spPr>
          <a:xfrm>
            <a:off x="914400" y="2361895"/>
            <a:ext cx="1515160" cy="161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8A8A84"/>
                </a:solidFill>
                <a:latin typeface="JetBrains Mono"/>
              </a:rPr>
              <a:t>MECHANICAL EDIT COST</a:t>
            </a:r>
          </a:p>
        </p:txBody>
      </p:sp>
      <p:sp>
        <p:nvSpPr>
          <p:cNvPr id="6" name="h2p-text-5"/>
          <p:cNvSpPr txBox="1"/>
          <p:nvPr/>
        </p:nvSpPr>
        <p:spPr>
          <a:xfrm>
            <a:off x="914400" y="2590495"/>
            <a:ext cx="3200400" cy="75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6000">
                <a:solidFill>
                  <a:srgbClr val="E8A33D"/>
                </a:solidFill>
                <a:latin typeface="Fraunces"/>
              </a:rPr>
              <a:t>−76%</a:t>
            </a:r>
          </a:p>
        </p:txBody>
      </p:sp>
      <p:sp>
        <p:nvSpPr>
          <p:cNvPr id="7" name="h2p-box-6"/>
          <p:cNvSpPr/>
          <p:nvPr/>
        </p:nvSpPr>
        <p:spPr>
          <a:xfrm>
            <a:off x="914400" y="3581704"/>
            <a:ext cx="4419295" cy="133502"/>
          </a:xfrm>
          <a:prstGeom prst="roundRect">
            <a:avLst>
              <a:gd name="adj" fmla="val 14290"/>
            </a:avLst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box-7"/>
          <p:cNvSpPr/>
          <p:nvPr/>
        </p:nvSpPr>
        <p:spPr>
          <a:xfrm>
            <a:off x="914400" y="3581704"/>
            <a:ext cx="3362248" cy="133502"/>
          </a:xfrm>
          <a:prstGeom prst="roundRect">
            <a:avLst>
              <a:gd name="adj" fmla="val 1429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2p-text-8"/>
          <p:cNvSpPr txBox="1"/>
          <p:nvPr/>
        </p:nvSpPr>
        <p:spPr>
          <a:xfrm>
            <a:off x="914400" y="4134002"/>
            <a:ext cx="833932" cy="161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8A8A84"/>
                </a:solidFill>
                <a:latin typeface="JetBrains Mono"/>
              </a:rPr>
              <a:t>TOTAL SPEND</a:t>
            </a:r>
          </a:p>
        </p:txBody>
      </p:sp>
      <p:sp>
        <p:nvSpPr>
          <p:cNvPr id="10" name="h2p-text-9"/>
          <p:cNvSpPr txBox="1"/>
          <p:nvPr/>
        </p:nvSpPr>
        <p:spPr>
          <a:xfrm>
            <a:off x="914400" y="4362602"/>
            <a:ext cx="3200400" cy="75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6000">
                <a:solidFill>
                  <a:srgbClr val="FFFEFB"/>
                </a:solidFill>
                <a:latin typeface="Fraunces"/>
              </a:rPr>
              <a:t>−6%</a:t>
            </a:r>
          </a:p>
        </p:txBody>
      </p:sp>
      <p:sp>
        <p:nvSpPr>
          <p:cNvPr id="11" name="h2p-box-10"/>
          <p:cNvSpPr/>
          <p:nvPr/>
        </p:nvSpPr>
        <p:spPr>
          <a:xfrm>
            <a:off x="914400" y="5352897"/>
            <a:ext cx="4419295" cy="133502"/>
          </a:xfrm>
          <a:prstGeom prst="roundRect">
            <a:avLst>
              <a:gd name="adj" fmla="val 14290"/>
            </a:avLst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box-11"/>
          <p:cNvSpPr/>
          <p:nvPr/>
        </p:nvSpPr>
        <p:spPr>
          <a:xfrm>
            <a:off x="914400" y="5352897"/>
            <a:ext cx="267004" cy="133502"/>
          </a:xfrm>
          <a:prstGeom prst="roundRect">
            <a:avLst>
              <a:gd name="adj" fmla="val 14290"/>
            </a:avLst>
          </a:prstGeom>
          <a:solidFill>
            <a:srgbClr val="FFF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box-12"/>
          <p:cNvSpPr/>
          <p:nvPr/>
        </p:nvSpPr>
        <p:spPr>
          <a:xfrm>
            <a:off x="6400800" y="2704795"/>
            <a:ext cx="4876495" cy="2682849"/>
          </a:xfrm>
          <a:prstGeom prst="roundRect">
            <a:avLst>
              <a:gd name="adj" fmla="val 213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text-13"/>
          <p:cNvSpPr txBox="1"/>
          <p:nvPr/>
        </p:nvSpPr>
        <p:spPr>
          <a:xfrm>
            <a:off x="6791248" y="3000146"/>
            <a:ext cx="4178808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buNone/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b="1" sz="5200">
                <a:solidFill>
                  <a:srgbClr val="E8A33D"/>
                </a:solidFill>
                <a:latin typeface="Fraunces"/>
              </a:rPr>
              <a:t>“</a:t>
            </a:r>
          </a:p>
        </p:txBody>
      </p:sp>
      <p:sp>
        <p:nvSpPr>
          <p:cNvPr id="15" name="h2p-text-14"/>
          <p:cNvSpPr txBox="1"/>
          <p:nvPr/>
        </p:nvSpPr>
        <p:spPr>
          <a:xfrm>
            <a:off x="6791248" y="3610051"/>
            <a:ext cx="4177893" cy="14063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sz="1950">
                <a:solidFill>
                  <a:srgbClr val="FFFEFB"/>
                </a:solidFill>
                <a:latin typeface="Fraunces"/>
              </a:rPr>
              <a:t>It collapsed </a:t>
            </a:r>
            <a:r>
              <a:rPr i="1" sz="1950">
                <a:solidFill>
                  <a:srgbClr val="E8A33D"/>
                </a:solidFill>
                <a:latin typeface="Fraunces"/>
              </a:rPr>
              <a:t>the cost of caring</a:t>
            </a:r>
            <a:r>
              <a:rPr i="1" sz="1950">
                <a:solidFill>
                  <a:srgbClr val="FFFEFB"/>
                </a:solidFill>
                <a:latin typeface="Fraunces"/>
              </a:rPr>
              <a:t>. When acting is cheap, validated, and reversible, agents act on everything they notice.</a:t>
            </a:r>
          </a:p>
        </p:txBody>
      </p:sp>
      <p:sp>
        <p:nvSpPr>
          <p:cNvPr id="16" name="h2p-text-15"/>
          <p:cNvSpPr txBox="1"/>
          <p:nvPr/>
        </p:nvSpPr>
        <p:spPr>
          <a:xfrm>
            <a:off x="811072" y="6019495"/>
            <a:ext cx="10570464" cy="2596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sz="1580">
                <a:solidFill>
                  <a:srgbClr val="C9BDA6"/>
                </a:solidFill>
                <a:latin typeface="Fraunces"/>
              </a:rPr>
              <a:t>Parkinson’s law for agents — they spent the savings on </a:t>
            </a:r>
            <a:r>
              <a:rPr i="1" sz="1580">
                <a:solidFill>
                  <a:srgbClr val="E8A33D"/>
                </a:solidFill>
                <a:latin typeface="Fraunces"/>
              </a:rPr>
              <a:t>ambition</a:t>
            </a:r>
            <a:r>
              <a:rPr i="1" sz="1580">
                <a:solidFill>
                  <a:srgbClr val="C9BDA6"/>
                </a:solidFill>
                <a:latin typeface="Fraunces"/>
              </a:rPr>
              <a:t>.</a:t>
            </a:r>
          </a:p>
        </p:txBody>
      </p:sp>
      <p:sp>
        <p:nvSpPr>
          <p:cNvPr id="17" name="h2p-text-16"/>
          <p:cNvSpPr txBox="1"/>
          <p:nvPr/>
        </p:nvSpPr>
        <p:spPr>
          <a:xfrm>
            <a:off x="612648" y="6647688"/>
            <a:ext cx="2404872" cy="91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buNone/>
              <a:lnSpc>
                <a:spcPts val="680"/>
              </a:lnSpc>
              <a:spcBef>
                <a:spcPts val="0"/>
              </a:spcBef>
              <a:spcAft>
                <a:spcPts val="0"/>
              </a:spcAft>
            </a:pPr>
            <a:r>
              <a:rPr sz="560">
                <a:solidFill>
                  <a:srgbClr val="8A8A84"/>
                </a:solidFill>
                <a:latin typeface="JetBrains Mono"/>
              </a:rPr>
              <a:t>hands-on-deck · slide 11/18 · built by deck.py — 30 ops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0" y="5669280"/>
            <a:ext cx="10972800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972800" y="5669280"/>
            <a:ext cx="640080" cy="68580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612880" y="6355080"/>
            <a:ext cx="576072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text-2"/>
          <p:cNvSpPr txBox="1"/>
          <p:nvPr/>
        </p:nvSpPr>
        <p:spPr>
          <a:xfrm>
            <a:off x="381304" y="152704"/>
            <a:ext cx="310896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buNone/>
              <a:lnSpc>
                <a:spcPts val="14500"/>
              </a:lnSpc>
              <a:spcBef>
                <a:spcPts val="0"/>
              </a:spcBef>
              <a:spcAft>
                <a:spcPts val="0"/>
              </a:spcAft>
            </a:pPr>
            <a:r>
              <a:rPr sz="18800">
                <a:solidFill>
                  <a:srgbClr val="1F1F1D"/>
                </a:solidFill>
                <a:latin typeface="Fraunces"/>
              </a:rPr>
              <a:t>III</a:t>
            </a:r>
          </a:p>
        </p:txBody>
      </p:sp>
      <p:sp>
        <p:nvSpPr>
          <p:cNvPr id="4" name="h2p-text-3"/>
          <p:cNvSpPr txBox="1"/>
          <p:nvPr/>
        </p:nvSpPr>
        <p:spPr>
          <a:xfrm>
            <a:off x="609904" y="457200"/>
            <a:ext cx="1329537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E8A33D"/>
                </a:solidFill>
                <a:latin typeface="JetBrains Mono"/>
              </a:rPr>
              <a:t>ACT III — THE PROOF</a:t>
            </a:r>
          </a:p>
        </p:txBody>
      </p:sp>
      <p:sp>
        <p:nvSpPr>
          <p:cNvPr id="5" name="h2p-text-4"/>
          <p:cNvSpPr txBox="1"/>
          <p:nvPr/>
        </p:nvSpPr>
        <p:spPr>
          <a:xfrm>
            <a:off x="914400" y="1067104"/>
            <a:ext cx="10492740" cy="5449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050">
                <a:solidFill>
                  <a:srgbClr val="FFFEFB"/>
                </a:solidFill>
                <a:latin typeface="Fraunces"/>
              </a:rPr>
              <a:t>95 slides. </a:t>
            </a:r>
            <a:r>
              <a:rPr i="1" sz="4050">
                <a:solidFill>
                  <a:srgbClr val="E8A33D"/>
                </a:solidFill>
                <a:latin typeface="Fraunces"/>
              </a:rPr>
              <a:t>One</a:t>
            </a:r>
            <a:r>
              <a:rPr b="1" sz="4050">
                <a:solidFill>
                  <a:srgbClr val="FFFEFB"/>
                </a:solidFill>
                <a:latin typeface="Fraunces"/>
              </a:rPr>
              <a:t> human gate.</a:t>
            </a:r>
          </a:p>
        </p:txBody>
      </p:sp>
      <p:pic>
        <p:nvPicPr>
          <p:cNvPr id="6" name="Picture 5" descr="liftup-before.jpg"/>
          <p:cNvPicPr>
            <a:picLocks noChangeAspect="1"/>
          </p:cNvPicPr>
          <p:nvPr/>
        </p:nvPicPr>
        <p:blipFill>
          <a:blip r:embed="rId2"/>
          <a:srcRect l="4960" r="4960"/>
          <a:stretch>
            <a:fillRect/>
          </a:stretch>
        </p:blipFill>
        <p:spPr>
          <a:xfrm>
            <a:off x="0" y="2057400"/>
            <a:ext cx="6086246" cy="3390595"/>
          </a:xfrm>
          <a:prstGeom prst="rect">
            <a:avLst/>
          </a:prstGeom>
        </p:spPr>
      </p:pic>
      <p:pic>
        <p:nvPicPr>
          <p:cNvPr id="7" name="Picture 6" descr="liftup-after.jpg"/>
          <p:cNvPicPr>
            <a:picLocks noChangeAspect="1"/>
          </p:cNvPicPr>
          <p:nvPr/>
        </p:nvPicPr>
        <p:blipFill>
          <a:blip r:embed="rId3"/>
          <a:srcRect l="4960" r="4960"/>
          <a:stretch>
            <a:fillRect/>
          </a:stretch>
        </p:blipFill>
        <p:spPr>
          <a:xfrm>
            <a:off x="6105448" y="2057400"/>
            <a:ext cx="6086246" cy="3390595"/>
          </a:xfrm>
          <a:prstGeom prst="rect">
            <a:avLst/>
          </a:prstGeom>
        </p:spPr>
      </p:pic>
      <p:sp>
        <p:nvSpPr>
          <p:cNvPr id="8" name="h2p-box-5"/>
          <p:cNvSpPr/>
          <p:nvPr/>
        </p:nvSpPr>
        <p:spPr>
          <a:xfrm>
            <a:off x="6086246" y="2057400"/>
            <a:ext cx="19202" cy="339059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2p-box-6"/>
          <p:cNvSpPr/>
          <p:nvPr/>
        </p:nvSpPr>
        <p:spPr>
          <a:xfrm>
            <a:off x="190195" y="2210104"/>
            <a:ext cx="640080" cy="251460"/>
          </a:xfrm>
          <a:prstGeom prst="roundRect">
            <a:avLst>
              <a:gd name="adj" fmla="val 11370"/>
            </a:avLst>
          </a:prstGeom>
          <a:solidFill>
            <a:srgbClr val="0E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2p-text-7"/>
          <p:cNvSpPr txBox="1"/>
          <p:nvPr/>
        </p:nvSpPr>
        <p:spPr>
          <a:xfrm>
            <a:off x="304495" y="2266797"/>
            <a:ext cx="419709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8A8A84"/>
                </a:solidFill>
                <a:latin typeface="JetBrains Mono"/>
              </a:rPr>
              <a:t>BEFORE</a:t>
            </a:r>
          </a:p>
        </p:txBody>
      </p:sp>
      <p:sp>
        <p:nvSpPr>
          <p:cNvPr id="11" name="h2p-box-8"/>
          <p:cNvSpPr/>
          <p:nvPr/>
        </p:nvSpPr>
        <p:spPr>
          <a:xfrm>
            <a:off x="6295644" y="2210104"/>
            <a:ext cx="571500" cy="251460"/>
          </a:xfrm>
          <a:prstGeom prst="roundRect">
            <a:avLst>
              <a:gd name="adj" fmla="val 11370"/>
            </a:avLst>
          </a:prstGeom>
          <a:solidFill>
            <a:srgbClr val="0E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text-9"/>
          <p:cNvSpPr txBox="1"/>
          <p:nvPr/>
        </p:nvSpPr>
        <p:spPr>
          <a:xfrm>
            <a:off x="6409944" y="2266797"/>
            <a:ext cx="350215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E8A33D"/>
                </a:solidFill>
                <a:latin typeface="JetBrains Mono"/>
              </a:rPr>
              <a:t>AFTER</a:t>
            </a:r>
          </a:p>
        </p:txBody>
      </p:sp>
      <p:sp>
        <p:nvSpPr>
          <p:cNvPr id="13" name="h2p-box-10"/>
          <p:cNvSpPr/>
          <p:nvPr/>
        </p:nvSpPr>
        <p:spPr>
          <a:xfrm>
            <a:off x="3200400" y="4324197"/>
            <a:ext cx="5790895" cy="1309420"/>
          </a:xfrm>
          <a:prstGeom prst="roundRect">
            <a:avLst>
              <a:gd name="adj" fmla="val 436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text-11"/>
          <p:cNvSpPr txBox="1"/>
          <p:nvPr/>
        </p:nvSpPr>
        <p:spPr>
          <a:xfrm>
            <a:off x="3514953" y="4581144"/>
            <a:ext cx="5266029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E8A33D"/>
                </a:solidFill>
                <a:latin typeface="JetBrains Mono"/>
              </a:rPr>
              <a:t>THE PROMPT — IN FULL</a:t>
            </a:r>
          </a:p>
        </p:txBody>
      </p:sp>
      <p:sp>
        <p:nvSpPr>
          <p:cNvPr id="15" name="h2p-text-12"/>
          <p:cNvSpPr txBox="1"/>
          <p:nvPr/>
        </p:nvSpPr>
        <p:spPr>
          <a:xfrm>
            <a:off x="3514953" y="4886553"/>
            <a:ext cx="5266029" cy="4718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E8A33D"/>
                </a:solidFill>
                <a:latin typeface="JetBrains Mono"/>
              </a:rPr>
              <a:t>&gt; </a:t>
            </a:r>
            <a:r>
              <a:rPr sz="1120">
                <a:solidFill>
                  <a:srgbClr val="C9BDA6"/>
                </a:solidFill>
                <a:latin typeface="JetBrains Mono"/>
              </a:rPr>
              <a:t>direction is right but i wanna make it </a:t>
            </a:r>
            <a:r>
              <a:rPr sz="1120">
                <a:solidFill>
                  <a:srgbClr val="E8A33D"/>
                </a:solidFill>
                <a:latin typeface="JetBrains Mono"/>
              </a:rPr>
              <a:t>even more hardcore</a:t>
            </a:r>
            <a:r>
              <a:rPr sz="1120">
                <a:solidFill>
                  <a:srgbClr val="C9BDA6"/>
                </a:solidFill>
                <a:latin typeface="JetBrains Mono"/>
              </a:rPr>
              <a:t> ... to make it </a:t>
            </a:r>
            <a:r>
              <a:rPr sz="1120">
                <a:solidFill>
                  <a:srgbClr val="E8A33D"/>
                </a:solidFill>
                <a:latin typeface="JetBrains Mono"/>
              </a:rPr>
              <a:t>absolutely insane</a:t>
            </a:r>
            <a:r>
              <a:rPr sz="1120">
                <a:solidFill>
                  <a:srgbClr val="C9BDA6"/>
                </a:solidFill>
                <a:latin typeface="JetBrains Mono"/>
              </a:rPr>
              <a:t>.</a:t>
            </a:r>
          </a:p>
        </p:txBody>
      </p:sp>
      <p:sp>
        <p:nvSpPr>
          <p:cNvPr id="16" name="h2p-text-13"/>
          <p:cNvSpPr txBox="1"/>
          <p:nvPr/>
        </p:nvSpPr>
        <p:spPr>
          <a:xfrm>
            <a:off x="811072" y="6019495"/>
            <a:ext cx="10570464" cy="2596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sz="1580">
                <a:solidFill>
                  <a:srgbClr val="C9BDA6"/>
                </a:solidFill>
                <a:latin typeface="Fraunces"/>
              </a:rPr>
              <a:t>The human gate fired — in the </a:t>
            </a:r>
            <a:r>
              <a:rPr i="1" sz="1580">
                <a:solidFill>
                  <a:srgbClr val="E8A33D"/>
                </a:solidFill>
                <a:latin typeface="Fraunces"/>
              </a:rPr>
              <a:t>opposite direction</a:t>
            </a:r>
            <a:r>
              <a:rPr i="1" sz="1580">
                <a:solidFill>
                  <a:srgbClr val="C9BDA6"/>
                </a:solidFill>
                <a:latin typeface="Fraunces"/>
              </a:rPr>
              <a:t> everyone expects.</a:t>
            </a:r>
          </a:p>
        </p:txBody>
      </p:sp>
      <p:sp>
        <p:nvSpPr>
          <p:cNvPr id="17" name="h2p-text-14"/>
          <p:cNvSpPr txBox="1"/>
          <p:nvPr/>
        </p:nvSpPr>
        <p:spPr>
          <a:xfrm>
            <a:off x="612648" y="6647688"/>
            <a:ext cx="2404872" cy="91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buNone/>
              <a:lnSpc>
                <a:spcPts val="680"/>
              </a:lnSpc>
              <a:spcBef>
                <a:spcPts val="0"/>
              </a:spcBef>
              <a:spcAft>
                <a:spcPts val="0"/>
              </a:spcAft>
            </a:pPr>
            <a:r>
              <a:rPr sz="560">
                <a:solidFill>
                  <a:srgbClr val="8A8A84"/>
                </a:solidFill>
                <a:latin typeface="JetBrains Mono"/>
              </a:rPr>
              <a:t>hands-on-deck · slide 12/18 · built by deck.py — 28 ops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0" y="6355080"/>
            <a:ext cx="9601200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601200" y="6309360"/>
            <a:ext cx="640080" cy="4572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41280" y="6309360"/>
            <a:ext cx="1947672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text-2"/>
          <p:cNvSpPr txBox="1"/>
          <p:nvPr/>
        </p:nvSpPr>
        <p:spPr>
          <a:xfrm>
            <a:off x="609904" y="457200"/>
            <a:ext cx="630021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8A8A84"/>
                </a:solidFill>
                <a:latin typeface="JetBrains Mono"/>
              </a:rPr>
              <a:t>THE AUDIT</a:t>
            </a:r>
          </a:p>
        </p:txBody>
      </p:sp>
      <p:sp>
        <p:nvSpPr>
          <p:cNvPr id="4" name="h2p-text-3"/>
          <p:cNvSpPr txBox="1"/>
          <p:nvPr/>
        </p:nvSpPr>
        <p:spPr>
          <a:xfrm>
            <a:off x="609904" y="990295"/>
            <a:ext cx="7383779" cy="10899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050">
                <a:solidFill>
                  <a:srgbClr val="FFFEFB"/>
                </a:solidFill>
                <a:latin typeface="Fraunces"/>
              </a:rPr>
              <a:t>Before publishing, I asked it to </a:t>
            </a:r>
            <a:r>
              <a:rPr i="1" sz="4050">
                <a:solidFill>
                  <a:srgbClr val="E8A33D"/>
                </a:solidFill>
                <a:latin typeface="Fraunces"/>
              </a:rPr>
              <a:t>audit</a:t>
            </a:r>
            <a:r>
              <a:rPr b="1" sz="4050">
                <a:solidFill>
                  <a:srgbClr val="FFFEFB"/>
                </a:solidFill>
                <a:latin typeface="Fraunces"/>
              </a:rPr>
              <a:t> my claim</a:t>
            </a:r>
          </a:p>
        </p:txBody>
      </p:sp>
      <p:sp>
        <p:nvSpPr>
          <p:cNvPr id="5" name="h2p-box-4"/>
          <p:cNvSpPr/>
          <p:nvPr/>
        </p:nvSpPr>
        <p:spPr>
          <a:xfrm>
            <a:off x="609904" y="2361895"/>
            <a:ext cx="7010704" cy="1309420"/>
          </a:xfrm>
          <a:prstGeom prst="roundRect">
            <a:avLst>
              <a:gd name="adj" fmla="val 436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2p-text-5"/>
          <p:cNvSpPr txBox="1"/>
          <p:nvPr/>
        </p:nvSpPr>
        <p:spPr>
          <a:xfrm>
            <a:off x="923544" y="2619756"/>
            <a:ext cx="6509613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E8A33D"/>
                </a:solidFill>
                <a:latin typeface="JetBrains Mono"/>
              </a:rPr>
              <a:t>THE PROMPT — CONDENSED</a:t>
            </a:r>
          </a:p>
        </p:txBody>
      </p:sp>
      <p:sp>
        <p:nvSpPr>
          <p:cNvPr id="7" name="h2p-text-6"/>
          <p:cNvSpPr txBox="1"/>
          <p:nvPr/>
        </p:nvSpPr>
        <p:spPr>
          <a:xfrm>
            <a:off x="923544" y="2924251"/>
            <a:ext cx="6509613" cy="4718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E8A33D"/>
                </a:solidFill>
                <a:latin typeface="JetBrains Mono"/>
              </a:rPr>
              <a:t>&gt; </a:t>
            </a:r>
            <a:r>
              <a:rPr sz="1120">
                <a:solidFill>
                  <a:srgbClr val="C9BDA6"/>
                </a:solidFill>
                <a:latin typeface="JetBrains Mono"/>
              </a:rPr>
              <a:t>tell me if the framing … is </a:t>
            </a:r>
            <a:r>
              <a:rPr sz="1120">
                <a:solidFill>
                  <a:srgbClr val="E8A33D"/>
                </a:solidFill>
                <a:latin typeface="JetBrains Mono"/>
              </a:rPr>
              <a:t>a fair claim</a:t>
            </a:r>
            <a:r>
              <a:rPr sz="1120">
                <a:solidFill>
                  <a:srgbClr val="C9BDA6"/>
                </a:solidFill>
                <a:latin typeface="JetBrains Mono"/>
              </a:rPr>
              <a:t> … I’m planning to move this into an open source repository</a:t>
            </a:r>
          </a:p>
        </p:txBody>
      </p:sp>
      <p:sp>
        <p:nvSpPr>
          <p:cNvPr id="8" name="h2p-box-7"/>
          <p:cNvSpPr/>
          <p:nvPr/>
        </p:nvSpPr>
        <p:spPr>
          <a:xfrm>
            <a:off x="609904" y="3448202"/>
            <a:ext cx="7010704" cy="1451152"/>
          </a:xfrm>
          <a:prstGeom prst="roundRect">
            <a:avLst>
              <a:gd name="adj" fmla="val 3939"/>
            </a:avLst>
          </a:prstGeom>
          <a:solidFill>
            <a:srgbClr val="16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09904" y="3457346"/>
            <a:ext cx="7009791" cy="0"/>
          </a:xfrm>
          <a:prstGeom prst="line">
            <a:avLst/>
          </a:prstGeom>
          <a:ln w="19050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15123" y="3448202"/>
            <a:ext cx="0" cy="1451153"/>
          </a:xfrm>
          <a:prstGeom prst="line">
            <a:avLst/>
          </a:prstGeom>
          <a:ln w="10160">
            <a:solidFill>
              <a:srgbClr val="2A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904" y="4894783"/>
            <a:ext cx="7009791" cy="0"/>
          </a:xfrm>
          <a:prstGeom prst="line">
            <a:avLst/>
          </a:prstGeom>
          <a:ln w="10160">
            <a:solidFill>
              <a:srgbClr val="2A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14476" y="3448202"/>
            <a:ext cx="0" cy="1451153"/>
          </a:xfrm>
          <a:prstGeom prst="line">
            <a:avLst/>
          </a:prstGeom>
          <a:ln w="10160">
            <a:solidFill>
              <a:srgbClr val="2A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h2p-text-8"/>
          <p:cNvSpPr txBox="1"/>
          <p:nvPr/>
        </p:nvSpPr>
        <p:spPr>
          <a:xfrm>
            <a:off x="923544" y="3714292"/>
            <a:ext cx="6509613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E8A33D"/>
                </a:solidFill>
                <a:latin typeface="JetBrains Mono"/>
              </a:rPr>
              <a:t>FABLE’S OUTPUT — VERBATIM</a:t>
            </a:r>
          </a:p>
        </p:txBody>
      </p:sp>
      <p:sp>
        <p:nvSpPr>
          <p:cNvPr id="14" name="h2p-text-9"/>
          <p:cNvSpPr txBox="1"/>
          <p:nvPr/>
        </p:nvSpPr>
        <p:spPr>
          <a:xfrm>
            <a:off x="923544" y="4019702"/>
            <a:ext cx="6509613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00">
                <a:solidFill>
                  <a:srgbClr val="FFFEFB"/>
                </a:solidFill>
                <a:latin typeface="Fraunces"/>
              </a:rPr>
              <a:t>“Yes, fair — and honestly understated: the interesting part isn’t that it’s a CLI, it’s that it’s </a:t>
            </a:r>
            <a:r>
              <a:rPr b="1" sz="1800">
                <a:solidFill>
                  <a:srgbClr val="E8A33D"/>
                </a:solidFill>
                <a:latin typeface="Fraunces"/>
              </a:rPr>
              <a:t>an agent-native CLI</a:t>
            </a:r>
            <a:r>
              <a:rPr b="1" sz="1800">
                <a:solidFill>
                  <a:srgbClr val="FFFEFB"/>
                </a:solidFill>
                <a:latin typeface="Fraunces"/>
              </a:rPr>
              <a:t>.”</a:t>
            </a:r>
          </a:p>
        </p:txBody>
      </p:sp>
      <p:sp>
        <p:nvSpPr>
          <p:cNvPr id="15" name="h2p-text-10"/>
          <p:cNvSpPr txBox="1"/>
          <p:nvPr/>
        </p:nvSpPr>
        <p:spPr>
          <a:xfrm>
            <a:off x="609904" y="5333695"/>
            <a:ext cx="7383779" cy="198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E8A33D"/>
                </a:solidFill>
                <a:latin typeface="JetBrains Mono"/>
              </a:rPr>
              <a:t>but — “say edit, not create” </a:t>
            </a:r>
            <a:r>
              <a:rPr sz="980">
                <a:solidFill>
                  <a:srgbClr val="8A8A84"/>
                </a:solidFill>
                <a:latin typeface="JetBrains Mono"/>
              </a:rPr>
              <a:t>→</a:t>
            </a:r>
            <a:r>
              <a:rPr sz="980">
                <a:solidFill>
                  <a:srgbClr val="E8A33D"/>
                </a:solidFill>
                <a:latin typeface="JetBrains Mono"/>
              </a:rPr>
              <a:t> gaps closed same evening </a:t>
            </a:r>
            <a:r>
              <a:rPr sz="980">
                <a:solidFill>
                  <a:srgbClr val="8A8A84"/>
                </a:solidFill>
                <a:latin typeface="JetBrains Mono"/>
              </a:rPr>
              <a:t>→</a:t>
            </a:r>
            <a:r>
              <a:rPr sz="980">
                <a:solidFill>
                  <a:srgbClr val="E8A33D"/>
                </a:solidFill>
                <a:latin typeface="JetBrains Mono"/>
              </a:rPr>
              <a:t> 11:47 PM: v1.0.0 public.</a:t>
            </a:r>
          </a:p>
        </p:txBody>
      </p:sp>
      <p:sp>
        <p:nvSpPr>
          <p:cNvPr id="16" name="h2p-box-11"/>
          <p:cNvSpPr/>
          <p:nvPr/>
        </p:nvSpPr>
        <p:spPr>
          <a:xfrm>
            <a:off x="7848295" y="2514600"/>
            <a:ext cx="3733495" cy="2486253"/>
          </a:xfrm>
          <a:prstGeom prst="roundRect">
            <a:avLst>
              <a:gd name="adj" fmla="val 230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anding-hero.png"/>
          <p:cNvPicPr>
            <a:picLocks noChangeAspect="1"/>
          </p:cNvPicPr>
          <p:nvPr/>
        </p:nvPicPr>
        <p:blipFill>
          <a:blip r:embed="rId2"/>
          <a:srcRect l="4380" r="4380"/>
          <a:stretch>
            <a:fillRect/>
          </a:stretch>
        </p:blipFill>
        <p:spPr>
          <a:xfrm>
            <a:off x="7953451" y="2619756"/>
            <a:ext cx="3524097" cy="2276856"/>
          </a:xfrm>
          <a:prstGeom prst="rect">
            <a:avLst/>
          </a:prstGeom>
        </p:spPr>
      </p:pic>
      <p:sp>
        <p:nvSpPr>
          <p:cNvPr id="18" name="h2p-text-12"/>
          <p:cNvSpPr txBox="1"/>
          <p:nvPr/>
        </p:nvSpPr>
        <p:spPr>
          <a:xfrm>
            <a:off x="7811719" y="5162702"/>
            <a:ext cx="3808476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8A8A84"/>
                </a:solidFill>
                <a:latin typeface="JetBrains Mono"/>
              </a:rPr>
              <a:t>docs/index.html — live the same night</a:t>
            </a:r>
          </a:p>
        </p:txBody>
      </p:sp>
      <p:sp>
        <p:nvSpPr>
          <p:cNvPr id="19" name="h2p-text-13"/>
          <p:cNvSpPr txBox="1"/>
          <p:nvPr/>
        </p:nvSpPr>
        <p:spPr>
          <a:xfrm>
            <a:off x="811072" y="6019495"/>
            <a:ext cx="10570464" cy="2596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sz="1580">
                <a:solidFill>
                  <a:srgbClr val="C9BDA6"/>
                </a:solidFill>
                <a:latin typeface="Fraunces"/>
              </a:rPr>
              <a:t>Every design choice targets an </a:t>
            </a:r>
            <a:r>
              <a:rPr i="1" sz="1580">
                <a:solidFill>
                  <a:srgbClr val="E8A33D"/>
                </a:solidFill>
                <a:latin typeface="Fraunces"/>
              </a:rPr>
              <a:t>LLM failure mode</a:t>
            </a:r>
            <a:r>
              <a:rPr i="1" sz="1580">
                <a:solidFill>
                  <a:srgbClr val="C9BDA6"/>
                </a:solidFill>
                <a:latin typeface="Fraunces"/>
              </a:rPr>
              <a:t>.</a:t>
            </a:r>
          </a:p>
        </p:txBody>
      </p:sp>
      <p:sp>
        <p:nvSpPr>
          <p:cNvPr id="20" name="h2p-text-14"/>
          <p:cNvSpPr txBox="1"/>
          <p:nvPr/>
        </p:nvSpPr>
        <p:spPr>
          <a:xfrm>
            <a:off x="612648" y="6647688"/>
            <a:ext cx="2404872" cy="91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buNone/>
              <a:lnSpc>
                <a:spcPts val="680"/>
              </a:lnSpc>
              <a:spcBef>
                <a:spcPts val="0"/>
              </a:spcBef>
              <a:spcAft>
                <a:spcPts val="0"/>
              </a:spcAft>
            </a:pPr>
            <a:r>
              <a:rPr sz="560">
                <a:solidFill>
                  <a:srgbClr val="8A8A84"/>
                </a:solidFill>
                <a:latin typeface="JetBrains Mono"/>
              </a:rPr>
              <a:t>hands-on-deck · slide 13/18 · built by deck.py — 28 ops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0" y="6309360"/>
            <a:ext cx="11750040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1750040" y="4370832"/>
            <a:ext cx="182880" cy="1938528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932920" y="4370832"/>
            <a:ext cx="256032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text-2"/>
          <p:cNvSpPr txBox="1"/>
          <p:nvPr/>
        </p:nvSpPr>
        <p:spPr>
          <a:xfrm>
            <a:off x="609904" y="457200"/>
            <a:ext cx="979322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8A8A84"/>
                </a:solidFill>
                <a:latin typeface="JetBrains Mono"/>
              </a:rPr>
              <a:t>THE CLEAN ROOM</a:t>
            </a:r>
          </a:p>
        </p:txBody>
      </p:sp>
      <p:sp>
        <p:nvSpPr>
          <p:cNvPr id="4" name="h2p-text-3"/>
          <p:cNvSpPr txBox="1"/>
          <p:nvPr/>
        </p:nvSpPr>
        <p:spPr>
          <a:xfrm>
            <a:off x="609904" y="1067104"/>
            <a:ext cx="7383779" cy="5449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050">
                <a:solidFill>
                  <a:srgbClr val="FFFEFB"/>
                </a:solidFill>
                <a:latin typeface="Fraunces"/>
              </a:rPr>
              <a:t>The license </a:t>
            </a:r>
            <a:r>
              <a:rPr i="1" sz="4050">
                <a:solidFill>
                  <a:srgbClr val="E8A33D"/>
                </a:solidFill>
                <a:latin typeface="Fraunces"/>
              </a:rPr>
              <a:t>bombshell</a:t>
            </a:r>
          </a:p>
        </p:txBody>
      </p:sp>
      <p:sp>
        <p:nvSpPr>
          <p:cNvPr id="5" name="h2p-box-4"/>
          <p:cNvSpPr/>
          <p:nvPr/>
        </p:nvSpPr>
        <p:spPr>
          <a:xfrm>
            <a:off x="609904" y="2171700"/>
            <a:ext cx="4724704" cy="2018995"/>
          </a:xfrm>
          <a:prstGeom prst="roundRect">
            <a:avLst>
              <a:gd name="adj" fmla="val 283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2p-text-5"/>
          <p:cNvSpPr txBox="1"/>
          <p:nvPr/>
        </p:nvSpPr>
        <p:spPr>
          <a:xfrm>
            <a:off x="886053" y="2409444"/>
            <a:ext cx="4255617" cy="1901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C9BDA6"/>
                </a:solidFill>
                <a:latin typeface="JetBrains Mono"/>
              </a:rPr>
              <a:t>html2pptx.js </a:t>
            </a:r>
            <a:r>
              <a:rPr sz="1120">
                <a:solidFill>
                  <a:srgbClr val="8A8A84"/>
                </a:solidFill>
                <a:latin typeface="JetBrains Mono"/>
              </a:rPr>
              <a:t>— proprietary</a:t>
            </a:r>
          </a:p>
        </p:txBody>
      </p:sp>
      <p:sp>
        <p:nvSpPr>
          <p:cNvPr id="7" name="h2p-box-6"/>
          <p:cNvSpPr/>
          <p:nvPr/>
        </p:nvSpPr>
        <p:spPr>
          <a:xfrm>
            <a:off x="875995" y="2819095"/>
            <a:ext cx="3619195" cy="95097"/>
          </a:xfrm>
          <a:prstGeom prst="roundRect">
            <a:avLst>
              <a:gd name="adj" fmla="val 20000"/>
            </a:avLst>
          </a:prstGeom>
          <a:solidFill>
            <a:srgbClr val="2B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box-7"/>
          <p:cNvSpPr/>
          <p:nvPr/>
        </p:nvSpPr>
        <p:spPr>
          <a:xfrm>
            <a:off x="875995" y="3028492"/>
            <a:ext cx="2971800" cy="95097"/>
          </a:xfrm>
          <a:prstGeom prst="roundRect">
            <a:avLst>
              <a:gd name="adj" fmla="val 20000"/>
            </a:avLst>
          </a:prstGeom>
          <a:solidFill>
            <a:srgbClr val="2B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2p-box-8"/>
          <p:cNvSpPr/>
          <p:nvPr/>
        </p:nvSpPr>
        <p:spPr>
          <a:xfrm>
            <a:off x="875995" y="3238804"/>
            <a:ext cx="3847795" cy="95097"/>
          </a:xfrm>
          <a:prstGeom prst="roundRect">
            <a:avLst>
              <a:gd name="adj" fmla="val 20000"/>
            </a:avLst>
          </a:prstGeom>
          <a:solidFill>
            <a:srgbClr val="2B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2p-box-9"/>
          <p:cNvSpPr/>
          <p:nvPr/>
        </p:nvSpPr>
        <p:spPr>
          <a:xfrm>
            <a:off x="875995" y="3448202"/>
            <a:ext cx="2361895" cy="95097"/>
          </a:xfrm>
          <a:prstGeom prst="roundRect">
            <a:avLst>
              <a:gd name="adj" fmla="val 20000"/>
            </a:avLst>
          </a:prstGeom>
          <a:solidFill>
            <a:srgbClr val="2B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2p-box-10"/>
          <p:cNvSpPr/>
          <p:nvPr/>
        </p:nvSpPr>
        <p:spPr>
          <a:xfrm>
            <a:off x="875995" y="3657600"/>
            <a:ext cx="3390595" cy="95097"/>
          </a:xfrm>
          <a:prstGeom prst="roundRect">
            <a:avLst>
              <a:gd name="adj" fmla="val 20000"/>
            </a:avLst>
          </a:prstGeom>
          <a:solidFill>
            <a:srgbClr val="2B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box-11"/>
          <p:cNvSpPr/>
          <p:nvPr/>
        </p:nvSpPr>
        <p:spPr>
          <a:xfrm rot="21180000">
            <a:off x="1505102" y="2857500"/>
            <a:ext cx="2952597" cy="705002"/>
          </a:xfrm>
          <a:prstGeom prst="roundRect">
            <a:avLst>
              <a:gd name="adj" fmla="val 5410"/>
            </a:avLst>
          </a:prstGeom>
          <a:noFill/>
          <a:ln w="27940">
            <a:solidFill>
              <a:srgbClr val="C94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text-12"/>
          <p:cNvSpPr txBox="1"/>
          <p:nvPr/>
        </p:nvSpPr>
        <p:spPr>
          <a:xfrm rot="21180000">
            <a:off x="1475841" y="2857500"/>
            <a:ext cx="3012033" cy="7050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250">
                <a:solidFill>
                  <a:srgbClr val="C94A38"/>
                </a:solidFill>
                <a:latin typeface="JetBrains Mono"/>
              </a:rPr>
              <a:t>CANNOT SHIP</a:t>
            </a:r>
          </a:p>
        </p:txBody>
      </p:sp>
      <p:sp>
        <p:nvSpPr>
          <p:cNvPr id="14" name="h2p-box-13"/>
          <p:cNvSpPr/>
          <p:nvPr/>
        </p:nvSpPr>
        <p:spPr>
          <a:xfrm>
            <a:off x="5943600" y="2171700"/>
            <a:ext cx="5639104" cy="2018995"/>
          </a:xfrm>
          <a:prstGeom prst="roundRect">
            <a:avLst>
              <a:gd name="adj" fmla="val 2830"/>
            </a:avLst>
          </a:prstGeom>
          <a:solidFill>
            <a:srgbClr val="16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943600" y="2180844"/>
            <a:ext cx="5639104" cy="0"/>
          </a:xfrm>
          <a:prstGeom prst="line">
            <a:avLst/>
          </a:prstGeom>
          <a:ln w="19050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577218" y="2171700"/>
            <a:ext cx="0" cy="2018995"/>
          </a:xfrm>
          <a:prstGeom prst="line">
            <a:avLst/>
          </a:prstGeom>
          <a:ln w="10160">
            <a:solidFill>
              <a:srgbClr val="2A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943600" y="4186123"/>
            <a:ext cx="5639104" cy="0"/>
          </a:xfrm>
          <a:prstGeom prst="line">
            <a:avLst/>
          </a:prstGeom>
          <a:ln w="10160">
            <a:solidFill>
              <a:srgbClr val="2A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48172" y="2171700"/>
            <a:ext cx="0" cy="2018995"/>
          </a:xfrm>
          <a:prstGeom prst="line">
            <a:avLst/>
          </a:prstGeom>
          <a:ln w="10160">
            <a:solidFill>
              <a:srgbClr val="2A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h2p-text-14"/>
          <p:cNvSpPr txBox="1"/>
          <p:nvPr/>
        </p:nvSpPr>
        <p:spPr>
          <a:xfrm>
            <a:off x="6258153" y="2438704"/>
            <a:ext cx="5110581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E8A33D"/>
                </a:solidFill>
                <a:latin typeface="JetBrains Mono"/>
              </a:rPr>
              <a:t>RELEASE NOTE — V2.0.0</a:t>
            </a:r>
          </a:p>
        </p:txBody>
      </p:sp>
      <p:sp>
        <p:nvSpPr>
          <p:cNvPr id="20" name="h2p-text-15"/>
          <p:cNvSpPr txBox="1"/>
          <p:nvPr/>
        </p:nvSpPr>
        <p:spPr>
          <a:xfrm>
            <a:off x="6258153" y="2743200"/>
            <a:ext cx="5110581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320">
                <a:solidFill>
                  <a:srgbClr val="FFFEFB"/>
                </a:solidFill>
                <a:latin typeface="Fraunces"/>
              </a:rPr>
              <a:t>“1.x edited decks.</a:t>
            </a:r>
          </a:p>
          <a:p>
            <a:pPr marL="0" indent="0" algn="l">
              <a:lnSpc>
                <a:spcPts val="3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320">
                <a:solidFill>
                  <a:srgbClr val="FFFEFB"/>
                </a:solidFill>
                <a:latin typeface="Fraunces"/>
              </a:rPr>
              <a:t>2.0 </a:t>
            </a:r>
            <a:r>
              <a:rPr i="1" sz="2320">
                <a:solidFill>
                  <a:srgbClr val="E8A33D"/>
                </a:solidFill>
                <a:latin typeface="Fraunces"/>
              </a:rPr>
              <a:t>designs</a:t>
            </a:r>
            <a:r>
              <a:rPr b="1" sz="2320">
                <a:solidFill>
                  <a:srgbClr val="FFFEFB"/>
                </a:solidFill>
                <a:latin typeface="Fraunces"/>
              </a:rPr>
              <a:t> them.”</a:t>
            </a:r>
          </a:p>
        </p:txBody>
      </p:sp>
      <p:sp>
        <p:nvSpPr>
          <p:cNvPr id="21" name="h2p-box-16"/>
          <p:cNvSpPr/>
          <p:nvPr/>
        </p:nvSpPr>
        <p:spPr>
          <a:xfrm>
            <a:off x="1686153" y="4591202"/>
            <a:ext cx="1867204" cy="437997"/>
          </a:xfrm>
          <a:prstGeom prst="roundRect">
            <a:avLst>
              <a:gd name="adj" fmla="val 870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2p-text-17"/>
          <p:cNvSpPr txBox="1"/>
          <p:nvPr/>
        </p:nvSpPr>
        <p:spPr>
          <a:xfrm>
            <a:off x="1677009" y="4600346"/>
            <a:ext cx="1884578" cy="418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HTML slide</a:t>
            </a:r>
          </a:p>
        </p:txBody>
      </p:sp>
      <p:sp>
        <p:nvSpPr>
          <p:cNvPr id="23" name="h2p-text-18"/>
          <p:cNvSpPr txBox="1"/>
          <p:nvPr/>
        </p:nvSpPr>
        <p:spPr>
          <a:xfrm>
            <a:off x="3549700" y="4591202"/>
            <a:ext cx="330098" cy="437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3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24" name="h2p-box-19"/>
          <p:cNvSpPr/>
          <p:nvPr/>
        </p:nvSpPr>
        <p:spPr>
          <a:xfrm>
            <a:off x="3877056" y="4591202"/>
            <a:ext cx="2361895" cy="437997"/>
          </a:xfrm>
          <a:prstGeom prst="roundRect">
            <a:avLst>
              <a:gd name="adj" fmla="val 870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2p-text-20"/>
          <p:cNvSpPr txBox="1"/>
          <p:nvPr/>
        </p:nvSpPr>
        <p:spPr>
          <a:xfrm>
            <a:off x="3862425" y="4600346"/>
            <a:ext cx="2390241" cy="418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Chromium measures</a:t>
            </a:r>
          </a:p>
        </p:txBody>
      </p:sp>
      <p:sp>
        <p:nvSpPr>
          <p:cNvPr id="26" name="h2p-text-21"/>
          <p:cNvSpPr txBox="1"/>
          <p:nvPr/>
        </p:nvSpPr>
        <p:spPr>
          <a:xfrm>
            <a:off x="6235293" y="4591202"/>
            <a:ext cx="330098" cy="437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3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27" name="h2p-box-22"/>
          <p:cNvSpPr/>
          <p:nvPr/>
        </p:nvSpPr>
        <p:spPr>
          <a:xfrm>
            <a:off x="6562648" y="4591202"/>
            <a:ext cx="2095804" cy="437997"/>
          </a:xfrm>
          <a:prstGeom prst="roundRect">
            <a:avLst>
              <a:gd name="adj" fmla="val 870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2p-text-23"/>
          <p:cNvSpPr txBox="1"/>
          <p:nvPr/>
        </p:nvSpPr>
        <p:spPr>
          <a:xfrm>
            <a:off x="6551676" y="4600346"/>
            <a:ext cx="2117750" cy="418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deck.py patch</a:t>
            </a:r>
          </a:p>
        </p:txBody>
      </p:sp>
      <p:sp>
        <p:nvSpPr>
          <p:cNvPr id="29" name="h2p-text-24"/>
          <p:cNvSpPr txBox="1"/>
          <p:nvPr/>
        </p:nvSpPr>
        <p:spPr>
          <a:xfrm>
            <a:off x="8654796" y="4591202"/>
            <a:ext cx="330098" cy="437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3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E8A33D"/>
                </a:solidFill>
                <a:latin typeface="JetBrains Mono"/>
              </a:rPr>
              <a:t>→</a:t>
            </a:r>
          </a:p>
        </p:txBody>
      </p:sp>
      <p:sp>
        <p:nvSpPr>
          <p:cNvPr id="30" name="h2p-box-25"/>
          <p:cNvSpPr/>
          <p:nvPr/>
        </p:nvSpPr>
        <p:spPr>
          <a:xfrm>
            <a:off x="8982151" y="4591202"/>
            <a:ext cx="1524304" cy="437997"/>
          </a:xfrm>
          <a:prstGeom prst="roundRect">
            <a:avLst>
              <a:gd name="adj" fmla="val 870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2p-text-26"/>
          <p:cNvSpPr txBox="1"/>
          <p:nvPr/>
        </p:nvSpPr>
        <p:spPr>
          <a:xfrm>
            <a:off x="8976664" y="4600346"/>
            <a:ext cx="1535277" cy="418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.pptx</a:t>
            </a:r>
          </a:p>
        </p:txBody>
      </p:sp>
      <p:sp>
        <p:nvSpPr>
          <p:cNvPr id="32" name="h2p-text-27"/>
          <p:cNvSpPr txBox="1"/>
          <p:nvPr/>
        </p:nvSpPr>
        <p:spPr>
          <a:xfrm>
            <a:off x="500176" y="5391302"/>
            <a:ext cx="11192256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E8A33D"/>
                </a:solidFill>
                <a:latin typeface="JetBrains Mono"/>
              </a:rPr>
              <a:t>the slide you are reading went through this exact pipeline.</a:t>
            </a:r>
          </a:p>
        </p:txBody>
      </p:sp>
      <p:sp>
        <p:nvSpPr>
          <p:cNvPr id="33" name="h2p-text-28"/>
          <p:cNvSpPr txBox="1"/>
          <p:nvPr/>
        </p:nvSpPr>
        <p:spPr>
          <a:xfrm>
            <a:off x="811072" y="6019495"/>
            <a:ext cx="10570464" cy="2596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sz="1580">
                <a:solidFill>
                  <a:srgbClr val="C9BDA6"/>
                </a:solidFill>
                <a:latin typeface="Fraunces"/>
              </a:rPr>
              <a:t>The constraint forced the better invention: compile to </a:t>
            </a:r>
            <a:r>
              <a:rPr i="1" sz="1580">
                <a:solidFill>
                  <a:srgbClr val="E8A33D"/>
                </a:solidFill>
                <a:latin typeface="Fraunces"/>
              </a:rPr>
              <a:t>a patch</a:t>
            </a:r>
            <a:r>
              <a:rPr i="1" sz="1580">
                <a:solidFill>
                  <a:srgbClr val="C9BDA6"/>
                </a:solidFill>
                <a:latin typeface="Fraunces"/>
              </a:rPr>
              <a:t>, not a file.</a:t>
            </a:r>
          </a:p>
        </p:txBody>
      </p:sp>
      <p:sp>
        <p:nvSpPr>
          <p:cNvPr id="34" name="h2p-text-29"/>
          <p:cNvSpPr txBox="1"/>
          <p:nvPr/>
        </p:nvSpPr>
        <p:spPr>
          <a:xfrm>
            <a:off x="612648" y="6647688"/>
            <a:ext cx="2404872" cy="91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buNone/>
              <a:lnSpc>
                <a:spcPts val="680"/>
              </a:lnSpc>
              <a:spcBef>
                <a:spcPts val="0"/>
              </a:spcBef>
              <a:spcAft>
                <a:spcPts val="0"/>
              </a:spcAft>
            </a:pPr>
            <a:r>
              <a:rPr sz="560">
                <a:solidFill>
                  <a:srgbClr val="8A8A84"/>
                </a:solidFill>
                <a:latin typeface="JetBrains Mono"/>
              </a:rPr>
              <a:t>hands-on-deck · slide 14/18 · built by deck.py — 42 ops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0" y="4370832"/>
            <a:ext cx="10515600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515600" y="4370832"/>
            <a:ext cx="640080" cy="438912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155680" y="4809744"/>
            <a:ext cx="1033272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text-2"/>
          <p:cNvSpPr txBox="1"/>
          <p:nvPr/>
        </p:nvSpPr>
        <p:spPr>
          <a:xfrm>
            <a:off x="609904" y="457200"/>
            <a:ext cx="909828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8A8A84"/>
                </a:solidFill>
                <a:latin typeface="JetBrains Mono"/>
              </a:rPr>
              <a:t>THE BENCHMARK</a:t>
            </a:r>
          </a:p>
        </p:txBody>
      </p:sp>
      <p:sp>
        <p:nvSpPr>
          <p:cNvPr id="4" name="h2p-text-3"/>
          <p:cNvSpPr txBox="1"/>
          <p:nvPr/>
        </p:nvSpPr>
        <p:spPr>
          <a:xfrm>
            <a:off x="609904" y="1067104"/>
            <a:ext cx="8743492" cy="5449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050">
                <a:solidFill>
                  <a:srgbClr val="FFFEFB"/>
                </a:solidFill>
                <a:latin typeface="Fraunces"/>
              </a:rPr>
              <a:t>So we made them </a:t>
            </a:r>
            <a:r>
              <a:rPr i="1" sz="4050">
                <a:solidFill>
                  <a:srgbClr val="E8A33D"/>
                </a:solidFill>
                <a:latin typeface="Fraunces"/>
              </a:rPr>
              <a:t>race</a:t>
            </a:r>
          </a:p>
        </p:txBody>
      </p:sp>
      <p:sp>
        <p:nvSpPr>
          <p:cNvPr id="5" name="h2p-box-4"/>
          <p:cNvSpPr/>
          <p:nvPr/>
        </p:nvSpPr>
        <p:spPr>
          <a:xfrm>
            <a:off x="2114092" y="1943100"/>
            <a:ext cx="3238804" cy="381304"/>
          </a:xfrm>
          <a:prstGeom prst="roundRect">
            <a:avLst>
              <a:gd name="adj" fmla="val 1000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2p-text-5"/>
          <p:cNvSpPr txBox="1"/>
          <p:nvPr/>
        </p:nvSpPr>
        <p:spPr>
          <a:xfrm>
            <a:off x="2092147" y="1952243"/>
            <a:ext cx="3283610" cy="3621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same model · same brief</a:t>
            </a:r>
          </a:p>
        </p:txBody>
      </p:sp>
      <p:sp>
        <p:nvSpPr>
          <p:cNvPr id="7" name="h2p-text-6"/>
          <p:cNvSpPr txBox="1"/>
          <p:nvPr/>
        </p:nvSpPr>
        <p:spPr>
          <a:xfrm>
            <a:off x="2130552" y="2340864"/>
            <a:ext cx="388620" cy="267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E8A33D"/>
                </a:solidFill>
                <a:latin typeface="JetBrains Mono"/>
              </a:rPr>
              <a:t>↓</a:t>
            </a:r>
          </a:p>
        </p:txBody>
      </p:sp>
      <p:sp>
        <p:nvSpPr>
          <p:cNvPr id="8" name="h2p-text-7"/>
          <p:cNvSpPr txBox="1"/>
          <p:nvPr/>
        </p:nvSpPr>
        <p:spPr>
          <a:xfrm>
            <a:off x="4946904" y="2340864"/>
            <a:ext cx="388620" cy="267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E8A33D"/>
                </a:solidFill>
                <a:latin typeface="JetBrains Mono"/>
              </a:rPr>
              <a:t>↓</a:t>
            </a:r>
          </a:p>
        </p:txBody>
      </p:sp>
      <p:sp>
        <p:nvSpPr>
          <p:cNvPr id="9" name="h2p-box-8"/>
          <p:cNvSpPr/>
          <p:nvPr/>
        </p:nvSpPr>
        <p:spPr>
          <a:xfrm>
            <a:off x="1143000" y="2628900"/>
            <a:ext cx="2361895" cy="381304"/>
          </a:xfrm>
          <a:prstGeom prst="roundRect">
            <a:avLst>
              <a:gd name="adj" fmla="val 1000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2p-text-9"/>
          <p:cNvSpPr txBox="1"/>
          <p:nvPr/>
        </p:nvSpPr>
        <p:spPr>
          <a:xfrm>
            <a:off x="1129284" y="2638044"/>
            <a:ext cx="2390241" cy="3621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arm 1 — hands-on-deck</a:t>
            </a:r>
          </a:p>
        </p:txBody>
      </p:sp>
      <p:sp>
        <p:nvSpPr>
          <p:cNvPr id="11" name="h2p-box-10"/>
          <p:cNvSpPr/>
          <p:nvPr/>
        </p:nvSpPr>
        <p:spPr>
          <a:xfrm>
            <a:off x="3962095" y="2628900"/>
            <a:ext cx="2361895" cy="381304"/>
          </a:xfrm>
          <a:prstGeom prst="roundRect">
            <a:avLst>
              <a:gd name="adj" fmla="val 1000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text-11"/>
          <p:cNvSpPr txBox="1"/>
          <p:nvPr/>
        </p:nvSpPr>
        <p:spPr>
          <a:xfrm>
            <a:off x="3948379" y="2638044"/>
            <a:ext cx="2390241" cy="3621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arm 2 — the old skill</a:t>
            </a:r>
          </a:p>
        </p:txBody>
      </p:sp>
      <p:sp>
        <p:nvSpPr>
          <p:cNvPr id="13" name="h2p-text-12"/>
          <p:cNvSpPr txBox="1"/>
          <p:nvPr/>
        </p:nvSpPr>
        <p:spPr>
          <a:xfrm>
            <a:off x="3539642" y="3028492"/>
            <a:ext cx="388620" cy="267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E8A33D"/>
                </a:solidFill>
                <a:latin typeface="JetBrains Mono"/>
              </a:rPr>
              <a:t>↓</a:t>
            </a:r>
          </a:p>
        </p:txBody>
      </p:sp>
      <p:sp>
        <p:nvSpPr>
          <p:cNvPr id="14" name="h2p-box-13"/>
          <p:cNvSpPr/>
          <p:nvPr/>
        </p:nvSpPr>
        <p:spPr>
          <a:xfrm>
            <a:off x="2114092" y="3314700"/>
            <a:ext cx="3238804" cy="381304"/>
          </a:xfrm>
          <a:prstGeom prst="roundRect">
            <a:avLst>
              <a:gd name="adj" fmla="val 1000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2p-text-14"/>
          <p:cNvSpPr txBox="1"/>
          <p:nvPr/>
        </p:nvSpPr>
        <p:spPr>
          <a:xfrm>
            <a:off x="2092147" y="3323844"/>
            <a:ext cx="3283610" cy="3621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neutral re-render</a:t>
            </a:r>
          </a:p>
        </p:txBody>
      </p:sp>
      <p:sp>
        <p:nvSpPr>
          <p:cNvPr id="16" name="h2p-text-15"/>
          <p:cNvSpPr txBox="1"/>
          <p:nvPr/>
        </p:nvSpPr>
        <p:spPr>
          <a:xfrm>
            <a:off x="3539642" y="3714292"/>
            <a:ext cx="388620" cy="267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E8A33D"/>
                </a:solidFill>
                <a:latin typeface="JetBrains Mono"/>
              </a:rPr>
              <a:t>↓</a:t>
            </a:r>
          </a:p>
        </p:txBody>
      </p:sp>
      <p:sp>
        <p:nvSpPr>
          <p:cNvPr id="17" name="h2p-box-16"/>
          <p:cNvSpPr/>
          <p:nvPr/>
        </p:nvSpPr>
        <p:spPr>
          <a:xfrm>
            <a:off x="2114092" y="4000500"/>
            <a:ext cx="3238804" cy="381304"/>
          </a:xfrm>
          <a:prstGeom prst="roundRect">
            <a:avLst>
              <a:gd name="adj" fmla="val 1000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text-17"/>
          <p:cNvSpPr txBox="1"/>
          <p:nvPr/>
        </p:nvSpPr>
        <p:spPr>
          <a:xfrm>
            <a:off x="2092147" y="4009644"/>
            <a:ext cx="3283610" cy="3621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8A33D"/>
                </a:solidFill>
                <a:latin typeface="JetBrains Mono"/>
              </a:rPr>
              <a:t>blind.py</a:t>
            </a:r>
            <a:r>
              <a:rPr sz="1050">
                <a:solidFill>
                  <a:srgbClr val="C9BDA6"/>
                </a:solidFill>
                <a:latin typeface="JetBrains Mono"/>
              </a:rPr>
              <a:t> → Deck A / Deck B</a:t>
            </a:r>
          </a:p>
        </p:txBody>
      </p:sp>
      <p:sp>
        <p:nvSpPr>
          <p:cNvPr id="19" name="h2p-text-18"/>
          <p:cNvSpPr txBox="1"/>
          <p:nvPr/>
        </p:nvSpPr>
        <p:spPr>
          <a:xfrm>
            <a:off x="3539642" y="4400092"/>
            <a:ext cx="388620" cy="267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E8A33D"/>
                </a:solidFill>
                <a:latin typeface="JetBrains Mono"/>
              </a:rPr>
              <a:t>↓</a:t>
            </a:r>
          </a:p>
        </p:txBody>
      </p:sp>
      <p:sp>
        <p:nvSpPr>
          <p:cNvPr id="20" name="h2p-box-19"/>
          <p:cNvSpPr/>
          <p:nvPr/>
        </p:nvSpPr>
        <p:spPr>
          <a:xfrm>
            <a:off x="2114092" y="4686300"/>
            <a:ext cx="3238804" cy="381304"/>
          </a:xfrm>
          <a:prstGeom prst="roundRect">
            <a:avLst>
              <a:gd name="adj" fmla="val 1000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2p-text-20"/>
          <p:cNvSpPr txBox="1"/>
          <p:nvPr/>
        </p:nvSpPr>
        <p:spPr>
          <a:xfrm>
            <a:off x="2092147" y="4695444"/>
            <a:ext cx="3283610" cy="3621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3 judges, rotated order</a:t>
            </a:r>
          </a:p>
        </p:txBody>
      </p:sp>
      <p:sp>
        <p:nvSpPr>
          <p:cNvPr id="22" name="h2p-text-21"/>
          <p:cNvSpPr txBox="1"/>
          <p:nvPr/>
        </p:nvSpPr>
        <p:spPr>
          <a:xfrm>
            <a:off x="3539642" y="5085892"/>
            <a:ext cx="388620" cy="267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E8A33D"/>
                </a:solidFill>
                <a:latin typeface="JetBrains Mono"/>
              </a:rPr>
              <a:t>↓</a:t>
            </a:r>
          </a:p>
        </p:txBody>
      </p:sp>
      <p:sp>
        <p:nvSpPr>
          <p:cNvPr id="23" name="h2p-box-22"/>
          <p:cNvSpPr/>
          <p:nvPr/>
        </p:nvSpPr>
        <p:spPr>
          <a:xfrm>
            <a:off x="2114092" y="5372100"/>
            <a:ext cx="3238804" cy="381304"/>
          </a:xfrm>
          <a:prstGeom prst="roundRect">
            <a:avLst>
              <a:gd name="adj" fmla="val 1000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2p-text-23"/>
          <p:cNvSpPr txBox="1"/>
          <p:nvPr/>
        </p:nvSpPr>
        <p:spPr>
          <a:xfrm>
            <a:off x="2092147" y="5381244"/>
            <a:ext cx="3283610" cy="3621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unblind last</a:t>
            </a:r>
          </a:p>
        </p:txBody>
      </p:sp>
      <p:sp>
        <p:nvSpPr>
          <p:cNvPr id="25" name="h2p-text-24"/>
          <p:cNvSpPr txBox="1"/>
          <p:nvPr/>
        </p:nvSpPr>
        <p:spPr>
          <a:xfrm>
            <a:off x="7315200" y="1943100"/>
            <a:ext cx="1469440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8A8A84"/>
                </a:solidFill>
                <a:latin typeface="JetBrains Mono"/>
              </a:rPr>
              <a:t>THE PERSONALITY SPLIT</a:t>
            </a:r>
          </a:p>
        </p:txBody>
      </p:sp>
      <p:sp>
        <p:nvSpPr>
          <p:cNvPr id="26" name="h2p-box-25"/>
          <p:cNvSpPr/>
          <p:nvPr/>
        </p:nvSpPr>
        <p:spPr>
          <a:xfrm>
            <a:off x="7315200" y="2210104"/>
            <a:ext cx="4267504" cy="1750161"/>
          </a:xfrm>
          <a:prstGeom prst="roundRect">
            <a:avLst>
              <a:gd name="adj" fmla="val 3259"/>
            </a:avLst>
          </a:prstGeom>
          <a:solidFill>
            <a:srgbClr val="16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315200" y="2219248"/>
            <a:ext cx="4267504" cy="0"/>
          </a:xfrm>
          <a:prstGeom prst="line">
            <a:avLst/>
          </a:prstGeom>
          <a:ln w="19050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577218" y="2210104"/>
            <a:ext cx="0" cy="1750162"/>
          </a:xfrm>
          <a:prstGeom prst="line">
            <a:avLst/>
          </a:prstGeom>
          <a:ln w="10160">
            <a:solidFill>
              <a:srgbClr val="2A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315200" y="3955694"/>
            <a:ext cx="4267504" cy="0"/>
          </a:xfrm>
          <a:prstGeom prst="line">
            <a:avLst/>
          </a:prstGeom>
          <a:ln w="10160">
            <a:solidFill>
              <a:srgbClr val="2A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319772" y="2210104"/>
            <a:ext cx="0" cy="1750162"/>
          </a:xfrm>
          <a:prstGeom prst="line">
            <a:avLst/>
          </a:prstGeom>
          <a:ln w="10160">
            <a:solidFill>
              <a:srgbClr val="2A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h2p-text-26"/>
          <p:cNvSpPr txBox="1"/>
          <p:nvPr/>
        </p:nvSpPr>
        <p:spPr>
          <a:xfrm>
            <a:off x="7629753" y="2476195"/>
            <a:ext cx="3711549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E8A33D"/>
                </a:solidFill>
                <a:latin typeface="JetBrains Mono"/>
              </a:rPr>
              <a:t>WITH HANDS-ON-DECK</a:t>
            </a:r>
          </a:p>
        </p:txBody>
      </p:sp>
      <p:sp>
        <p:nvSpPr>
          <p:cNvPr id="32" name="h2p-text-27"/>
          <p:cNvSpPr txBox="1"/>
          <p:nvPr/>
        </p:nvSpPr>
        <p:spPr>
          <a:xfrm>
            <a:off x="7629753" y="2781604"/>
            <a:ext cx="3711549" cy="3767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700">
                <a:solidFill>
                  <a:srgbClr val="E8A33D"/>
                </a:solidFill>
                <a:latin typeface="Fraunces"/>
              </a:rPr>
              <a:t>a DESIGNER</a:t>
            </a:r>
          </a:p>
        </p:txBody>
      </p:sp>
      <p:sp>
        <p:nvSpPr>
          <p:cNvPr id="33" name="h2p-text-28"/>
          <p:cNvSpPr txBox="1"/>
          <p:nvPr/>
        </p:nvSpPr>
        <p:spPr>
          <a:xfrm>
            <a:off x="7629753" y="3272637"/>
            <a:ext cx="371154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0">
                <a:solidFill>
                  <a:srgbClr val="E8A33D"/>
                </a:solidFill>
                <a:latin typeface="JetBrains Mono"/>
              </a:rPr>
              <a:t>87 tool calls</a:t>
            </a:r>
          </a:p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0">
                <a:solidFill>
                  <a:srgbClr val="C9BDA6"/>
                </a:solidFill>
                <a:latin typeface="JetBrains Mono"/>
              </a:rPr>
              <a:t>looked at its own render </a:t>
            </a:r>
            <a:r>
              <a:rPr sz="1010">
                <a:solidFill>
                  <a:srgbClr val="E8A33D"/>
                </a:solidFill>
                <a:latin typeface="JetBrains Mono"/>
              </a:rPr>
              <a:t>27 times</a:t>
            </a:r>
          </a:p>
        </p:txBody>
      </p:sp>
      <p:sp>
        <p:nvSpPr>
          <p:cNvPr id="34" name="h2p-box-29"/>
          <p:cNvSpPr/>
          <p:nvPr/>
        </p:nvSpPr>
        <p:spPr>
          <a:xfrm>
            <a:off x="7315200" y="4000500"/>
            <a:ext cx="4267504" cy="1741017"/>
          </a:xfrm>
          <a:prstGeom prst="roundRect">
            <a:avLst>
              <a:gd name="adj" fmla="val 328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2p-text-30"/>
          <p:cNvSpPr txBox="1"/>
          <p:nvPr/>
        </p:nvSpPr>
        <p:spPr>
          <a:xfrm>
            <a:off x="7629753" y="4257446"/>
            <a:ext cx="3711549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8A8A84"/>
                </a:solidFill>
                <a:latin typeface="JetBrains Mono"/>
              </a:rPr>
              <a:t>WITH THE OLD SKILL</a:t>
            </a:r>
          </a:p>
        </p:txBody>
      </p:sp>
      <p:sp>
        <p:nvSpPr>
          <p:cNvPr id="36" name="h2p-text-31"/>
          <p:cNvSpPr txBox="1"/>
          <p:nvPr/>
        </p:nvSpPr>
        <p:spPr>
          <a:xfrm>
            <a:off x="7629753" y="4562856"/>
            <a:ext cx="3711549" cy="3767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700">
                <a:solidFill>
                  <a:srgbClr val="C9BDA6"/>
                </a:solidFill>
                <a:latin typeface="Fraunces"/>
              </a:rPr>
              <a:t>a CODER</a:t>
            </a:r>
          </a:p>
        </p:txBody>
      </p:sp>
      <p:sp>
        <p:nvSpPr>
          <p:cNvPr id="37" name="h2p-text-32"/>
          <p:cNvSpPr txBox="1"/>
          <p:nvPr/>
        </p:nvSpPr>
        <p:spPr>
          <a:xfrm>
            <a:off x="7629753" y="5053888"/>
            <a:ext cx="371154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0">
                <a:solidFill>
                  <a:srgbClr val="C9BDA6"/>
                </a:solidFill>
                <a:latin typeface="JetBrains Mono"/>
              </a:rPr>
              <a:t>one 40KB build script</a:t>
            </a:r>
          </a:p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0">
                <a:solidFill>
                  <a:srgbClr val="C9BDA6"/>
                </a:solidFill>
                <a:latin typeface="JetBrains Mono"/>
              </a:rPr>
              <a:t>looked 0 times</a:t>
            </a:r>
          </a:p>
        </p:txBody>
      </p:sp>
      <p:sp>
        <p:nvSpPr>
          <p:cNvPr id="38" name="h2p-text-33"/>
          <p:cNvSpPr txBox="1"/>
          <p:nvPr/>
        </p:nvSpPr>
        <p:spPr>
          <a:xfrm>
            <a:off x="811072" y="6019495"/>
            <a:ext cx="10570464" cy="2596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sz="1580">
                <a:solidFill>
                  <a:srgbClr val="C9BDA6"/>
                </a:solidFill>
                <a:latin typeface="Fraunces"/>
              </a:rPr>
              <a:t>Same model. Different tool. </a:t>
            </a:r>
            <a:r>
              <a:rPr i="1" sz="1580">
                <a:solidFill>
                  <a:srgbClr val="E8A33D"/>
                </a:solidFill>
                <a:latin typeface="Fraunces"/>
              </a:rPr>
              <a:t>Different species of worker.</a:t>
            </a:r>
          </a:p>
        </p:txBody>
      </p:sp>
      <p:sp>
        <p:nvSpPr>
          <p:cNvPr id="39" name="h2p-text-34"/>
          <p:cNvSpPr txBox="1"/>
          <p:nvPr/>
        </p:nvSpPr>
        <p:spPr>
          <a:xfrm>
            <a:off x="612648" y="6647688"/>
            <a:ext cx="2404872" cy="91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buNone/>
              <a:lnSpc>
                <a:spcPts val="680"/>
              </a:lnSpc>
              <a:spcBef>
                <a:spcPts val="0"/>
              </a:spcBef>
              <a:spcAft>
                <a:spcPts val="0"/>
              </a:spcAft>
            </a:pPr>
            <a:r>
              <a:rPr sz="560">
                <a:solidFill>
                  <a:srgbClr val="8A8A84"/>
                </a:solidFill>
                <a:latin typeface="JetBrains Mono"/>
              </a:rPr>
              <a:t>hands-on-deck · slide 15/18 · built by deck.py — 49 ops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0" y="4809744"/>
            <a:ext cx="274320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74320" y="4809744"/>
            <a:ext cx="548640" cy="1545336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2960" y="6355080"/>
            <a:ext cx="11365992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text-2"/>
          <p:cNvSpPr txBox="1"/>
          <p:nvPr/>
        </p:nvSpPr>
        <p:spPr>
          <a:xfrm>
            <a:off x="609904" y="457200"/>
            <a:ext cx="979322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8A8A84"/>
                </a:solidFill>
                <a:latin typeface="JetBrains Mono"/>
              </a:rPr>
              <a:t>THE SCOREBOARD</a:t>
            </a:r>
          </a:p>
        </p:txBody>
      </p:sp>
      <p:sp>
        <p:nvSpPr>
          <p:cNvPr id="4" name="h2p-box-3"/>
          <p:cNvSpPr/>
          <p:nvPr/>
        </p:nvSpPr>
        <p:spPr>
          <a:xfrm>
            <a:off x="609904" y="838504"/>
            <a:ext cx="3276295" cy="331012"/>
          </a:xfrm>
          <a:prstGeom prst="roundRect">
            <a:avLst>
              <a:gd name="adj" fmla="val 1150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2p-text-4"/>
          <p:cNvSpPr txBox="1"/>
          <p:nvPr/>
        </p:nvSpPr>
        <p:spPr>
          <a:xfrm>
            <a:off x="752551" y="923544"/>
            <a:ext cx="3050438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8A8A84"/>
                </a:solidFill>
                <a:latin typeface="JetBrains Mono"/>
              </a:rPr>
              <a:t>R1 ✗ lint was right </a:t>
            </a:r>
            <a:r>
              <a:rPr sz="900">
                <a:solidFill>
                  <a:srgbClr val="E8A33D"/>
                </a:solidFill>
                <a:latin typeface="JetBrains Mono"/>
              </a:rPr>
              <a:t>→ fix shipped</a:t>
            </a:r>
          </a:p>
        </p:txBody>
      </p:sp>
      <p:sp>
        <p:nvSpPr>
          <p:cNvPr id="6" name="h2p-box-5"/>
          <p:cNvSpPr/>
          <p:nvPr/>
        </p:nvSpPr>
        <p:spPr>
          <a:xfrm>
            <a:off x="609904" y="1276502"/>
            <a:ext cx="3276295" cy="331012"/>
          </a:xfrm>
          <a:prstGeom prst="roundRect">
            <a:avLst>
              <a:gd name="adj" fmla="val 11500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text-6"/>
          <p:cNvSpPr txBox="1"/>
          <p:nvPr/>
        </p:nvSpPr>
        <p:spPr>
          <a:xfrm>
            <a:off x="752551" y="1362456"/>
            <a:ext cx="3050438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8A8A84"/>
                </a:solidFill>
                <a:latin typeface="JetBrains Mono"/>
              </a:rPr>
              <a:t>R2 ✗ one &lt;br&gt; tag </a:t>
            </a:r>
            <a:r>
              <a:rPr sz="900">
                <a:solidFill>
                  <a:srgbClr val="E8A33D"/>
                </a:solidFill>
                <a:latin typeface="JetBrains Mono"/>
              </a:rPr>
              <a:t>→ fix shipped</a:t>
            </a:r>
          </a:p>
        </p:txBody>
      </p:sp>
      <p:sp>
        <p:nvSpPr>
          <p:cNvPr id="8" name="h2p-text-7"/>
          <p:cNvSpPr txBox="1"/>
          <p:nvPr/>
        </p:nvSpPr>
        <p:spPr>
          <a:xfrm>
            <a:off x="4237329" y="914400"/>
            <a:ext cx="7345375" cy="5449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42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050">
                <a:solidFill>
                  <a:srgbClr val="FFFEFB"/>
                </a:solidFill>
                <a:latin typeface="Fraunces"/>
              </a:rPr>
              <a:t>Tools </a:t>
            </a:r>
            <a:r>
              <a:rPr i="1" sz="4050">
                <a:solidFill>
                  <a:srgbClr val="E8A33D"/>
                </a:solidFill>
                <a:latin typeface="Fraunces"/>
              </a:rPr>
              <a:t>learn</a:t>
            </a:r>
            <a:r>
              <a:rPr b="1" sz="4050">
                <a:solidFill>
                  <a:srgbClr val="FFFEFB"/>
                </a:solidFill>
                <a:latin typeface="Fraunces"/>
              </a:rPr>
              <a:t>. Prompts don’t.</a:t>
            </a:r>
          </a:p>
        </p:txBody>
      </p:sp>
      <p:sp>
        <p:nvSpPr>
          <p:cNvPr id="9" name="h2p-text-8"/>
          <p:cNvSpPr txBox="1"/>
          <p:nvPr/>
        </p:nvSpPr>
        <p:spPr>
          <a:xfrm>
            <a:off x="500176" y="1943100"/>
            <a:ext cx="11192256" cy="459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3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sz="3150">
                <a:solidFill>
                  <a:srgbClr val="FFFEFB"/>
                </a:solidFill>
                <a:latin typeface="Fraunces"/>
              </a:rPr>
              <a:t>“airtight” </a:t>
            </a:r>
            <a:r>
              <a:rPr sz="3150">
                <a:solidFill>
                  <a:srgbClr val="E8A33D"/>
                </a:solidFill>
                <a:latin typeface="Fraunces"/>
              </a:rPr>
              <a:t>·</a:t>
            </a:r>
            <a:r>
              <a:rPr i="1" sz="3150">
                <a:solidFill>
                  <a:srgbClr val="FFFEFB"/>
                </a:solidFill>
                <a:latin typeface="Fraunces"/>
              </a:rPr>
              <a:t> “flawless” </a:t>
            </a:r>
            <a:r>
              <a:rPr sz="3150">
                <a:solidFill>
                  <a:srgbClr val="E8A33D"/>
                </a:solidFill>
                <a:latin typeface="Fraunces"/>
              </a:rPr>
              <a:t>·</a:t>
            </a:r>
            <a:r>
              <a:rPr i="1" sz="3150">
                <a:solidFill>
                  <a:srgbClr val="FFFEFB"/>
                </a:solidFill>
                <a:latin typeface="Fraunces"/>
              </a:rPr>
              <a:t> “rock-steady”</a:t>
            </a:r>
          </a:p>
        </p:txBody>
      </p:sp>
      <p:pic>
        <p:nvPicPr>
          <p:cNvPr id="10" name="Picture 9" descr="r3-win-01.jpg"/>
          <p:cNvPicPr>
            <a:picLocks noChangeAspect="1"/>
          </p:cNvPicPr>
          <p:nvPr/>
        </p:nvPicPr>
        <p:blipFill>
          <a:blip r:embed="rId2"/>
          <a:srcRect l="2390" r="2390"/>
          <a:stretch>
            <a:fillRect/>
          </a:stretch>
        </p:blipFill>
        <p:spPr>
          <a:xfrm>
            <a:off x="0" y="2781604"/>
            <a:ext cx="2419502" cy="1428292"/>
          </a:xfrm>
          <a:prstGeom prst="rect">
            <a:avLst/>
          </a:prstGeom>
        </p:spPr>
      </p:pic>
      <p:pic>
        <p:nvPicPr>
          <p:cNvPr id="11" name="Picture 10" descr="r3-win-02.jpg"/>
          <p:cNvPicPr>
            <a:picLocks noChangeAspect="1"/>
          </p:cNvPicPr>
          <p:nvPr/>
        </p:nvPicPr>
        <p:blipFill>
          <a:blip r:embed="rId3"/>
          <a:srcRect l="2390" r="2390"/>
          <a:stretch>
            <a:fillRect/>
          </a:stretch>
        </p:blipFill>
        <p:spPr>
          <a:xfrm>
            <a:off x="2438704" y="2781604"/>
            <a:ext cx="2419502" cy="1428292"/>
          </a:xfrm>
          <a:prstGeom prst="rect">
            <a:avLst/>
          </a:prstGeom>
        </p:spPr>
      </p:pic>
      <p:pic>
        <p:nvPicPr>
          <p:cNvPr id="12" name="Picture 11" descr="r3-win-03.jpg"/>
          <p:cNvPicPr>
            <a:picLocks noChangeAspect="1"/>
          </p:cNvPicPr>
          <p:nvPr/>
        </p:nvPicPr>
        <p:blipFill>
          <a:blip r:embed="rId4"/>
          <a:srcRect l="2390" r="2390"/>
          <a:stretch>
            <a:fillRect/>
          </a:stretch>
        </p:blipFill>
        <p:spPr>
          <a:xfrm>
            <a:off x="4876495" y="2781604"/>
            <a:ext cx="2419502" cy="1428292"/>
          </a:xfrm>
          <a:prstGeom prst="rect">
            <a:avLst/>
          </a:prstGeom>
        </p:spPr>
      </p:pic>
      <p:pic>
        <p:nvPicPr>
          <p:cNvPr id="13" name="Picture 12" descr="r3-win-04.jpg"/>
          <p:cNvPicPr>
            <a:picLocks noChangeAspect="1"/>
          </p:cNvPicPr>
          <p:nvPr/>
        </p:nvPicPr>
        <p:blipFill>
          <a:blip r:embed="rId5"/>
          <a:srcRect l="2390" r="2390"/>
          <a:stretch>
            <a:fillRect/>
          </a:stretch>
        </p:blipFill>
        <p:spPr>
          <a:xfrm>
            <a:off x="7315200" y="2781604"/>
            <a:ext cx="2419502" cy="1428292"/>
          </a:xfrm>
          <a:prstGeom prst="rect">
            <a:avLst/>
          </a:prstGeom>
        </p:spPr>
      </p:pic>
      <p:pic>
        <p:nvPicPr>
          <p:cNvPr id="14" name="Picture 13" descr="r3-win-05.jpg"/>
          <p:cNvPicPr>
            <a:picLocks noChangeAspect="1"/>
          </p:cNvPicPr>
          <p:nvPr/>
        </p:nvPicPr>
        <p:blipFill>
          <a:blip r:embed="rId6"/>
          <a:srcRect l="2390" r="2390"/>
          <a:stretch>
            <a:fillRect/>
          </a:stretch>
        </p:blipFill>
        <p:spPr>
          <a:xfrm>
            <a:off x="9753904" y="2781604"/>
            <a:ext cx="2419502" cy="1428292"/>
          </a:xfrm>
          <a:prstGeom prst="rect">
            <a:avLst/>
          </a:prstGeom>
        </p:spPr>
      </p:pic>
      <p:sp>
        <p:nvSpPr>
          <p:cNvPr id="15" name="h2p-box-9"/>
          <p:cNvSpPr/>
          <p:nvPr/>
        </p:nvSpPr>
        <p:spPr>
          <a:xfrm>
            <a:off x="4990795" y="4000500"/>
            <a:ext cx="2210104" cy="320040"/>
          </a:xfrm>
          <a:prstGeom prst="roundRect">
            <a:avLst>
              <a:gd name="adj" fmla="val 1191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2p-text-10"/>
          <p:cNvSpPr txBox="1"/>
          <p:nvPr/>
        </p:nvSpPr>
        <p:spPr>
          <a:xfrm>
            <a:off x="4968849" y="4086453"/>
            <a:ext cx="2253996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0E0E0C"/>
                </a:solidFill>
                <a:latin typeface="JetBrains Mono"/>
              </a:rPr>
              <a:t>WIN 2–1 · TWO CLEAR</a:t>
            </a:r>
          </a:p>
        </p:txBody>
      </p:sp>
      <p:sp>
        <p:nvSpPr>
          <p:cNvPr id="17" name="h2p-text-11"/>
          <p:cNvSpPr txBox="1"/>
          <p:nvPr/>
        </p:nvSpPr>
        <p:spPr>
          <a:xfrm>
            <a:off x="811072" y="4990795"/>
            <a:ext cx="10570464" cy="198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8A8A84"/>
                </a:solidFill>
                <a:latin typeface="JetBrains Mono"/>
              </a:rPr>
              <a:t>every defect became </a:t>
            </a:r>
            <a:r>
              <a:rPr sz="980">
                <a:solidFill>
                  <a:srgbClr val="E8A33D"/>
                </a:solidFill>
                <a:latin typeface="JetBrains Mono"/>
              </a:rPr>
              <a:t>a tool upgrade with a regression test</a:t>
            </a:r>
            <a:r>
              <a:rPr sz="980">
                <a:solidFill>
                  <a:srgbClr val="8A8A84"/>
                </a:solidFill>
                <a:latin typeface="JetBrains Mono"/>
              </a:rPr>
              <a:t> — the old skill made the same mistakes in round 3 as round 1.</a:t>
            </a:r>
          </a:p>
        </p:txBody>
      </p:sp>
      <p:sp>
        <p:nvSpPr>
          <p:cNvPr id="18" name="h2p-text-12"/>
          <p:cNvSpPr txBox="1"/>
          <p:nvPr/>
        </p:nvSpPr>
        <p:spPr>
          <a:xfrm>
            <a:off x="811072" y="6019495"/>
            <a:ext cx="10570464" cy="2596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sz="1580">
                <a:solidFill>
                  <a:srgbClr val="C9BDA6"/>
                </a:solidFill>
                <a:latin typeface="Fraunces"/>
              </a:rPr>
              <a:t>Every loss became </a:t>
            </a:r>
            <a:r>
              <a:rPr i="1" sz="1580">
                <a:solidFill>
                  <a:srgbClr val="E8A33D"/>
                </a:solidFill>
                <a:latin typeface="Fraunces"/>
              </a:rPr>
              <a:t>machinery</a:t>
            </a:r>
            <a:r>
              <a:rPr i="1" sz="1580">
                <a:solidFill>
                  <a:srgbClr val="C9BDA6"/>
                </a:solidFill>
                <a:latin typeface="Fraunces"/>
              </a:rPr>
              <a:t>. The benchmark ships inside the repo.</a:t>
            </a:r>
          </a:p>
        </p:txBody>
      </p:sp>
      <p:sp>
        <p:nvSpPr>
          <p:cNvPr id="19" name="h2p-text-13"/>
          <p:cNvSpPr txBox="1"/>
          <p:nvPr/>
        </p:nvSpPr>
        <p:spPr>
          <a:xfrm>
            <a:off x="612648" y="6647688"/>
            <a:ext cx="2404872" cy="91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buNone/>
              <a:lnSpc>
                <a:spcPts val="680"/>
              </a:lnSpc>
              <a:spcBef>
                <a:spcPts val="0"/>
              </a:spcBef>
              <a:spcAft>
                <a:spcPts val="0"/>
              </a:spcAft>
            </a:pPr>
            <a:r>
              <a:rPr sz="560">
                <a:solidFill>
                  <a:srgbClr val="8A8A84"/>
                </a:solidFill>
                <a:latin typeface="JetBrains Mono"/>
              </a:rPr>
              <a:t>hands-on-deck · slide 16/18 · built by deck.py — 27 ops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0" y="6355080"/>
            <a:ext cx="11475720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1475720" y="5093208"/>
            <a:ext cx="365760" cy="1261872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841480" y="5093208"/>
            <a:ext cx="347472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text-2"/>
          <p:cNvSpPr txBox="1"/>
          <p:nvPr/>
        </p:nvSpPr>
        <p:spPr>
          <a:xfrm>
            <a:off x="381304" y="152704"/>
            <a:ext cx="3154680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0">
                <a:solidFill>
                  <a:srgbClr val="1F1F1D"/>
                </a:solidFill>
                <a:latin typeface="Fraunces"/>
              </a:rPr>
              <a:t>IV</a:t>
            </a:r>
          </a:p>
        </p:txBody>
      </p:sp>
      <p:sp>
        <p:nvSpPr>
          <p:cNvPr id="4" name="h2p-text-3"/>
          <p:cNvSpPr txBox="1"/>
          <p:nvPr/>
        </p:nvSpPr>
        <p:spPr>
          <a:xfrm>
            <a:off x="609904" y="457200"/>
            <a:ext cx="1189634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E8A33D"/>
                </a:solidFill>
                <a:latin typeface="JetBrains Mono"/>
              </a:rPr>
              <a:t>ACT IV — THE TOOL</a:t>
            </a:r>
          </a:p>
        </p:txBody>
      </p:sp>
      <p:sp>
        <p:nvSpPr>
          <p:cNvPr id="5" name="h2p-text-4"/>
          <p:cNvSpPr txBox="1"/>
          <p:nvPr/>
        </p:nvSpPr>
        <p:spPr>
          <a:xfrm>
            <a:off x="914400" y="1067104"/>
            <a:ext cx="10570464" cy="5449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050">
                <a:solidFill>
                  <a:srgbClr val="FFFEFB"/>
                </a:solidFill>
                <a:latin typeface="Fraunces"/>
              </a:rPr>
              <a:t>hands-on-deck, </a:t>
            </a:r>
            <a:r>
              <a:rPr i="1" sz="4050">
                <a:solidFill>
                  <a:srgbClr val="E8A33D"/>
                </a:solidFill>
                <a:latin typeface="Fraunces"/>
              </a:rPr>
              <a:t>v3</a:t>
            </a:r>
          </a:p>
        </p:txBody>
      </p:sp>
      <p:sp>
        <p:nvSpPr>
          <p:cNvPr id="6" name="h2p-box-5"/>
          <p:cNvSpPr/>
          <p:nvPr/>
        </p:nvSpPr>
        <p:spPr>
          <a:xfrm>
            <a:off x="914400" y="2018995"/>
            <a:ext cx="3353104" cy="857707"/>
          </a:xfrm>
          <a:prstGeom prst="roundRect">
            <a:avLst>
              <a:gd name="adj" fmla="val 6669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text-6"/>
          <p:cNvSpPr txBox="1"/>
          <p:nvPr/>
        </p:nvSpPr>
        <p:spPr>
          <a:xfrm>
            <a:off x="1152144" y="2210104"/>
            <a:ext cx="2934309" cy="161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E8A33D"/>
                </a:solidFill>
                <a:latin typeface="JetBrains Mono"/>
              </a:rPr>
              <a:t>EDIT</a:t>
            </a:r>
          </a:p>
        </p:txBody>
      </p:sp>
      <p:sp>
        <p:nvSpPr>
          <p:cNvPr id="8" name="h2p-text-7"/>
          <p:cNvSpPr txBox="1"/>
          <p:nvPr/>
        </p:nvSpPr>
        <p:spPr>
          <a:xfrm>
            <a:off x="1152144" y="2457907"/>
            <a:ext cx="2934309" cy="1865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patches, lint, fix</a:t>
            </a:r>
          </a:p>
        </p:txBody>
      </p:sp>
      <p:sp>
        <p:nvSpPr>
          <p:cNvPr id="9" name="h2p-box-8"/>
          <p:cNvSpPr/>
          <p:nvPr/>
        </p:nvSpPr>
        <p:spPr>
          <a:xfrm>
            <a:off x="4419295" y="2018995"/>
            <a:ext cx="3353104" cy="857707"/>
          </a:xfrm>
          <a:prstGeom prst="roundRect">
            <a:avLst>
              <a:gd name="adj" fmla="val 6669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2p-text-9"/>
          <p:cNvSpPr txBox="1"/>
          <p:nvPr/>
        </p:nvSpPr>
        <p:spPr>
          <a:xfrm>
            <a:off x="4657953" y="2210104"/>
            <a:ext cx="2934309" cy="161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E8A33D"/>
                </a:solidFill>
                <a:latin typeface="JetBrains Mono"/>
              </a:rPr>
              <a:t>CREATE</a:t>
            </a:r>
          </a:p>
        </p:txBody>
      </p:sp>
      <p:sp>
        <p:nvSpPr>
          <p:cNvPr id="11" name="h2p-text-10"/>
          <p:cNvSpPr txBox="1"/>
          <p:nvPr/>
        </p:nvSpPr>
        <p:spPr>
          <a:xfrm>
            <a:off x="4657953" y="2457907"/>
            <a:ext cx="2934309" cy="1865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html2patch</a:t>
            </a:r>
          </a:p>
        </p:txBody>
      </p:sp>
      <p:sp>
        <p:nvSpPr>
          <p:cNvPr id="12" name="h2p-box-11"/>
          <p:cNvSpPr/>
          <p:nvPr/>
        </p:nvSpPr>
        <p:spPr>
          <a:xfrm>
            <a:off x="7925104" y="2018995"/>
            <a:ext cx="3353104" cy="857707"/>
          </a:xfrm>
          <a:prstGeom prst="roundRect">
            <a:avLst>
              <a:gd name="adj" fmla="val 6669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text-12"/>
          <p:cNvSpPr txBox="1"/>
          <p:nvPr/>
        </p:nvSpPr>
        <p:spPr>
          <a:xfrm>
            <a:off x="8162848" y="2210104"/>
            <a:ext cx="2934309" cy="161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E8A33D"/>
                </a:solidFill>
                <a:latin typeface="JetBrains Mono"/>
              </a:rPr>
              <a:t>VERIFY</a:t>
            </a:r>
          </a:p>
        </p:txBody>
      </p:sp>
      <p:sp>
        <p:nvSpPr>
          <p:cNvPr id="14" name="h2p-text-13"/>
          <p:cNvSpPr txBox="1"/>
          <p:nvPr/>
        </p:nvSpPr>
        <p:spPr>
          <a:xfrm>
            <a:off x="8162848" y="2457907"/>
            <a:ext cx="2934309" cy="1865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render, diff</a:t>
            </a:r>
          </a:p>
        </p:txBody>
      </p:sp>
      <p:sp>
        <p:nvSpPr>
          <p:cNvPr id="15" name="h2p-box-14"/>
          <p:cNvSpPr/>
          <p:nvPr/>
        </p:nvSpPr>
        <p:spPr>
          <a:xfrm>
            <a:off x="914400" y="3028492"/>
            <a:ext cx="3353104" cy="857707"/>
          </a:xfrm>
          <a:prstGeom prst="roundRect">
            <a:avLst>
              <a:gd name="adj" fmla="val 6669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2p-text-15"/>
          <p:cNvSpPr txBox="1"/>
          <p:nvPr/>
        </p:nvSpPr>
        <p:spPr>
          <a:xfrm>
            <a:off x="1152144" y="3219602"/>
            <a:ext cx="2934309" cy="161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E8A33D"/>
                </a:solidFill>
                <a:latin typeface="JetBrains Mono"/>
              </a:rPr>
              <a:t>EVALS</a:t>
            </a:r>
          </a:p>
        </p:txBody>
      </p:sp>
      <p:sp>
        <p:nvSpPr>
          <p:cNvPr id="17" name="h2p-text-16"/>
          <p:cNvSpPr txBox="1"/>
          <p:nvPr/>
        </p:nvSpPr>
        <p:spPr>
          <a:xfrm>
            <a:off x="1152144" y="3467404"/>
            <a:ext cx="2934309" cy="1865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blind by design, in the repo</a:t>
            </a:r>
          </a:p>
        </p:txBody>
      </p:sp>
      <p:sp>
        <p:nvSpPr>
          <p:cNvPr id="18" name="h2p-box-17"/>
          <p:cNvSpPr/>
          <p:nvPr/>
        </p:nvSpPr>
        <p:spPr>
          <a:xfrm>
            <a:off x="4419295" y="3028492"/>
            <a:ext cx="3353104" cy="857707"/>
          </a:xfrm>
          <a:prstGeom prst="roundRect">
            <a:avLst>
              <a:gd name="adj" fmla="val 6669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2p-text-18"/>
          <p:cNvSpPr txBox="1"/>
          <p:nvPr/>
        </p:nvSpPr>
        <p:spPr>
          <a:xfrm>
            <a:off x="4657953" y="3219602"/>
            <a:ext cx="2934309" cy="161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E8A33D"/>
                </a:solidFill>
                <a:latin typeface="JetBrains Mono"/>
              </a:rPr>
              <a:t>TRANSITIONS</a:t>
            </a:r>
          </a:p>
        </p:txBody>
      </p:sp>
      <p:sp>
        <p:nvSpPr>
          <p:cNvPr id="20" name="h2p-text-19"/>
          <p:cNvSpPr txBox="1"/>
          <p:nvPr/>
        </p:nvSpPr>
        <p:spPr>
          <a:xfrm>
            <a:off x="4657953" y="3467404"/>
            <a:ext cx="2934309" cy="1865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opt-in only</a:t>
            </a:r>
          </a:p>
        </p:txBody>
      </p:sp>
      <p:sp>
        <p:nvSpPr>
          <p:cNvPr id="21" name="h2p-box-20"/>
          <p:cNvSpPr/>
          <p:nvPr/>
        </p:nvSpPr>
        <p:spPr>
          <a:xfrm>
            <a:off x="7925104" y="3028492"/>
            <a:ext cx="3353104" cy="857707"/>
          </a:xfrm>
          <a:prstGeom prst="roundRect">
            <a:avLst>
              <a:gd name="adj" fmla="val 6669"/>
            </a:avLst>
          </a:prstGeom>
          <a:solidFill>
            <a:srgbClr val="161613"/>
          </a:solidFill>
          <a:ln w="10160">
            <a:solidFill>
              <a:srgbClr val="2A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2p-text-21"/>
          <p:cNvSpPr txBox="1"/>
          <p:nvPr/>
        </p:nvSpPr>
        <p:spPr>
          <a:xfrm>
            <a:off x="8162848" y="3219602"/>
            <a:ext cx="2934309" cy="161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E8A33D"/>
                </a:solidFill>
                <a:latin typeface="JetBrains Mono"/>
              </a:rPr>
              <a:t>CI</a:t>
            </a:r>
          </a:p>
        </p:txBody>
      </p:sp>
      <p:sp>
        <p:nvSpPr>
          <p:cNvPr id="23" name="h2p-text-22"/>
          <p:cNvSpPr txBox="1"/>
          <p:nvPr/>
        </p:nvSpPr>
        <p:spPr>
          <a:xfrm>
            <a:off x="8162848" y="3467404"/>
            <a:ext cx="2934309" cy="1865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9BDA6"/>
                </a:solidFill>
                <a:latin typeface="JetBrains Mono"/>
              </a:rPr>
              <a:t>43 tests, LibreOffice + Chromium</a:t>
            </a:r>
          </a:p>
        </p:txBody>
      </p:sp>
      <p:sp>
        <p:nvSpPr>
          <p:cNvPr id="24" name="h2p-box-23"/>
          <p:cNvSpPr/>
          <p:nvPr/>
        </p:nvSpPr>
        <p:spPr>
          <a:xfrm>
            <a:off x="914400" y="4248302"/>
            <a:ext cx="10362895" cy="1414576"/>
          </a:xfrm>
          <a:prstGeom prst="roundRect">
            <a:avLst>
              <a:gd name="adj" fmla="val 4040"/>
            </a:avLst>
          </a:prstGeom>
          <a:solidFill>
            <a:srgbClr val="16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914400" y="4257446"/>
            <a:ext cx="10362895" cy="0"/>
          </a:xfrm>
          <a:prstGeom prst="line">
            <a:avLst/>
          </a:prstGeom>
          <a:ln w="19050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72723" y="4248302"/>
            <a:ext cx="0" cy="1414577"/>
          </a:xfrm>
          <a:prstGeom prst="line">
            <a:avLst/>
          </a:prstGeom>
          <a:ln w="10160">
            <a:solidFill>
              <a:srgbClr val="2A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14400" y="5658307"/>
            <a:ext cx="10362895" cy="0"/>
          </a:xfrm>
          <a:prstGeom prst="line">
            <a:avLst/>
          </a:prstGeom>
          <a:ln w="10160">
            <a:solidFill>
              <a:srgbClr val="2A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8971" y="4248302"/>
            <a:ext cx="0" cy="1414577"/>
          </a:xfrm>
          <a:prstGeom prst="line">
            <a:avLst/>
          </a:prstGeom>
          <a:ln w="10160">
            <a:solidFill>
              <a:srgbClr val="2A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h2p-text-24"/>
          <p:cNvSpPr txBox="1"/>
          <p:nvPr/>
        </p:nvSpPr>
        <p:spPr>
          <a:xfrm>
            <a:off x="1228953" y="4515307"/>
            <a:ext cx="9929469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E8A33D"/>
                </a:solidFill>
                <a:latin typeface="JetBrains Mono"/>
              </a:rPr>
              <a:t>INSTALL — TWO COMMANDS</a:t>
            </a:r>
          </a:p>
        </p:txBody>
      </p:sp>
      <p:sp>
        <p:nvSpPr>
          <p:cNvPr id="30" name="h2p-text-25"/>
          <p:cNvSpPr txBox="1"/>
          <p:nvPr/>
        </p:nvSpPr>
        <p:spPr>
          <a:xfrm>
            <a:off x="1228953" y="4819802"/>
            <a:ext cx="9929469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FFFEFB"/>
                </a:solidFill>
                <a:latin typeface="JetBrains Mono"/>
              </a:rPr>
              <a:t>/plugin marketplace add </a:t>
            </a:r>
            <a:r>
              <a:rPr sz="1280">
                <a:solidFill>
                  <a:srgbClr val="E8A33D"/>
                </a:solidFill>
                <a:latin typeface="JetBrains Mono"/>
              </a:rPr>
              <a:t>EveryInc/hands-on-deck</a:t>
            </a:r>
          </a:p>
        </p:txBody>
      </p:sp>
      <p:sp>
        <p:nvSpPr>
          <p:cNvPr id="31" name="h2p-text-26"/>
          <p:cNvSpPr txBox="1"/>
          <p:nvPr/>
        </p:nvSpPr>
        <p:spPr>
          <a:xfrm>
            <a:off x="1228953" y="5103266"/>
            <a:ext cx="9929469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FFFEFB"/>
                </a:solidFill>
                <a:latin typeface="JetBrains Mono"/>
              </a:rPr>
              <a:t>/plugin install hands-on-deck@hands-on-deck</a:t>
            </a:r>
          </a:p>
        </p:txBody>
      </p:sp>
      <p:sp>
        <p:nvSpPr>
          <p:cNvPr id="32" name="h2p-text-27"/>
          <p:cNvSpPr txBox="1"/>
          <p:nvPr/>
        </p:nvSpPr>
        <p:spPr>
          <a:xfrm>
            <a:off x="811072" y="6019495"/>
            <a:ext cx="10570464" cy="2596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sz="1580">
                <a:solidFill>
                  <a:srgbClr val="C9BDA6"/>
                </a:solidFill>
                <a:latin typeface="Fraunces"/>
              </a:rPr>
              <a:t>Named by the CEO’s nautical pun — one hand became </a:t>
            </a:r>
            <a:r>
              <a:rPr i="1" sz="1580">
                <a:solidFill>
                  <a:srgbClr val="E8A33D"/>
                </a:solidFill>
                <a:latin typeface="Fraunces"/>
              </a:rPr>
              <a:t>all hands.</a:t>
            </a:r>
          </a:p>
        </p:txBody>
      </p:sp>
      <p:sp>
        <p:nvSpPr>
          <p:cNvPr id="33" name="h2p-text-28"/>
          <p:cNvSpPr txBox="1"/>
          <p:nvPr/>
        </p:nvSpPr>
        <p:spPr>
          <a:xfrm>
            <a:off x="609904" y="6629400"/>
            <a:ext cx="2404872" cy="950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buNone/>
              <a:lnSpc>
                <a:spcPts val="680"/>
              </a:lnSpc>
              <a:spcBef>
                <a:spcPts val="0"/>
              </a:spcBef>
              <a:spcAft>
                <a:spcPts val="0"/>
              </a:spcAft>
            </a:pPr>
            <a:r>
              <a:rPr sz="560">
                <a:solidFill>
                  <a:srgbClr val="8A8A84"/>
                </a:solidFill>
                <a:latin typeface="JetBrains Mono"/>
              </a:rPr>
              <a:t>hands-on-deck · slide 17/18 · built by deck.py — 39 ops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0" y="5093208"/>
            <a:ext cx="274320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74320" y="5093208"/>
            <a:ext cx="548640" cy="1261872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22960" y="6355080"/>
            <a:ext cx="11365992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text-2"/>
          <p:cNvSpPr txBox="1"/>
          <p:nvPr/>
        </p:nvSpPr>
        <p:spPr>
          <a:xfrm>
            <a:off x="609904" y="457200"/>
            <a:ext cx="630021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8A8A84"/>
                </a:solidFill>
                <a:latin typeface="JetBrains Mono"/>
              </a:rPr>
              <a:t>THE CLOSE</a:t>
            </a:r>
          </a:p>
        </p:txBody>
      </p:sp>
      <p:sp>
        <p:nvSpPr>
          <p:cNvPr id="4" name="h2p-text-3"/>
          <p:cNvSpPr txBox="1"/>
          <p:nvPr/>
        </p:nvSpPr>
        <p:spPr>
          <a:xfrm>
            <a:off x="811072" y="2495397"/>
            <a:ext cx="10570464" cy="2020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79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5800">
                <a:solidFill>
                  <a:srgbClr val="FFFEFB"/>
                </a:solidFill>
                <a:latin typeface="Fraunces"/>
              </a:rPr>
              <a:t>Go make your agent</a:t>
            </a:r>
          </a:p>
          <a:p>
            <a:pPr marL="0" indent="0" algn="ctr">
              <a:lnSpc>
                <a:spcPts val="79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5800">
                <a:solidFill>
                  <a:srgbClr val="FFFEFB"/>
                </a:solidFill>
                <a:latin typeface="Fraunces"/>
              </a:rPr>
              <a:t>its </a:t>
            </a:r>
            <a:r>
              <a:rPr i="1" sz="5800">
                <a:solidFill>
                  <a:srgbClr val="E8A33D"/>
                </a:solidFill>
                <a:latin typeface="Fraunces"/>
              </a:rPr>
              <a:t>own</a:t>
            </a:r>
            <a:r>
              <a:rPr b="1" sz="5800">
                <a:solidFill>
                  <a:srgbClr val="FFFEFB"/>
                </a:solidFill>
                <a:latin typeface="Fraunces"/>
              </a:rPr>
              <a:t> PowerPoint.</a:t>
            </a:r>
          </a:p>
        </p:txBody>
      </p:sp>
      <p:sp>
        <p:nvSpPr>
          <p:cNvPr id="5" name="h2p-text-4"/>
          <p:cNvSpPr txBox="1"/>
          <p:nvPr/>
        </p:nvSpPr>
        <p:spPr>
          <a:xfrm>
            <a:off x="811072" y="5009997"/>
            <a:ext cx="10570464" cy="2093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FFFEFB"/>
                </a:solidFill>
                <a:latin typeface="JetBrains Mono"/>
              </a:rPr>
              <a:t>github.com/EveryInc/hands-on-deck</a:t>
            </a:r>
          </a:p>
        </p:txBody>
      </p:sp>
      <p:sp>
        <p:nvSpPr>
          <p:cNvPr id="6" name="h2p-text-5"/>
          <p:cNvSpPr txBox="1"/>
          <p:nvPr/>
        </p:nvSpPr>
        <p:spPr>
          <a:xfrm>
            <a:off x="811072" y="6057900"/>
            <a:ext cx="10570464" cy="161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buNone/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E8A33D"/>
                </a:solidFill>
                <a:latin typeface="JetBrains Mono"/>
              </a:rPr>
              <a:t>this deck: 597 patch ops · 23,178 lines of XML written · 31 render-lint-fix cycles · 0 lines written by a human</a:t>
            </a:r>
          </a:p>
        </p:txBody>
      </p:sp>
      <p:sp>
        <p:nvSpPr>
          <p:cNvPr id="7" name="h2p-text-6"/>
          <p:cNvSpPr txBox="1"/>
          <p:nvPr/>
        </p:nvSpPr>
        <p:spPr>
          <a:xfrm>
            <a:off x="609904" y="6629400"/>
            <a:ext cx="2404872" cy="950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buNone/>
              <a:lnSpc>
                <a:spcPts val="680"/>
              </a:lnSpc>
              <a:spcBef>
                <a:spcPts val="0"/>
              </a:spcBef>
              <a:spcAft>
                <a:spcPts val="0"/>
              </a:spcAft>
            </a:pPr>
            <a:r>
              <a:rPr sz="560">
                <a:solidFill>
                  <a:srgbClr val="8A8A84"/>
                </a:solidFill>
                <a:latin typeface="JetBrains Mono"/>
              </a:rPr>
              <a:t>hands-on-deck · slide 18/18 · built by deck.py — 19 ops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0" y="6355080"/>
            <a:ext cx="10789920" cy="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789920" y="6199632"/>
            <a:ext cx="457200" cy="155448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972800" y="6199632"/>
            <a:ext cx="274320" cy="91440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72800" y="6291072"/>
            <a:ext cx="411480" cy="64008"/>
          </a:xfrm>
          <a:prstGeom prst="line">
            <a:avLst/>
          </a:prstGeom>
          <a:ln w="9525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